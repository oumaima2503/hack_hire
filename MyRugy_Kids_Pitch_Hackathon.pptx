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 Nous sommes [Nom de l'équipe]. Nous vous présentons MyRugy Kids : une application où les enfants apprennent à fabriquer des tapis marocains, accompagnés d'un compagnon IA en 3D, en toute sécurité pour les parents.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constats. Le tapis marocain est un patrimoine vivant, mais il est absent des écrans des enfants. Les écrans sont souvent passifs. Et les parents ont raison d'être prudents avec l'IA : ils veulent une IA sûre et sous contrôle.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réponse : MyRugy Kids. L'enfant apprend en regardant, pratique tout de suite avec un jeu, voyage à travers le Maroc et finit par créer son propre tapis. Tout cela avec un compagnon IA qui est l'animal qu'il a choisi.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parcours en cinq étapes. Un onboarding de 9 étapes avec un adulte. Des mini-défis qui construisent un profil d'apprentissage, sans note. Puis 8 leçons organisées comme une route : regarder la vidéo, pratiquer avec un jeu, découvrir, faire le quiz. Les points débloquent des objets, et à la fin l'enfant crée son propre tapis dans l'atelier.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L'apprentissage est aussi un voyage. Chaque leçon visite une ou deux des 12 régions du Maroc, sur une vraie carte. L'enfant découvre le style de tapis de chaque région, ses couleurs et ses motifs, et tamponne son passeport. Les couleurs des régions visitées rejoignent sa palette dans l'atelier.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 cœur de l'expérience : le compagnon. C'est l'animal choisi par l'enfant, en 3D, qui se déplace dans toute l'application, et que l'enfant peut aussi déplacer. On le touche, il écoute, puis il répond avec une vraie voix, dans la langue de l'enfant. Il sait sur quelle page est l'enfant, donc il peut dire : touche le bouton ampoule pour un indice.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personnalisation. Le monde choisi change les couleurs, le décor et le vocabulaire. L'âge règle la longueur des explications et la taille des jeux. Le style d'apprentissage change l'ordre des sections. Les mini-défis décident quand le compagnon propose de l'aide. Important : l'IA ne choisit jamais le jeu et ne change jamais les règles ; elle aide autour.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sécurité de l'IA. Avant l'IA, un premier garde-fou bloque les sujets sensibles, les tentatives de détournement et les données personnelles, en trois langues. Gemini reçoit un contexte adapté à l'âge et au profil. Après l'IA, un second garde-fou vérifie la réponse. Le prénom de l'enfant ne quitte jamais notre serveur : Gemini voit un espace réservé, et nous remettons le prénom après. La clé API reste côté serveur.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contrôle parental. Tout contenu parent exige le mot de passe, même sur le même appareil. Et chaque enfant a son code secret en images, créé à la fin de l'onboarding : il le rejoue comme un petit jeu pour entrer dans son monde. Tout est vérifié côté serveur : le code est haché, l'enfant reçoit un pass valable pour lui seul, et un enfant ne peut jamais lire les données d'un frère ou d'une sœur, même en changeant l'adresse.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L'architecture. Un frontend React en TypeScript, avec three.js pour le compagnon. Une API Flask qui porte toute la sécurité : sessions, mode parent, pass enfant, garde-fous. Supabase pour les données, sans aucun accès direct depuis le navigateur. Gemini pour le texte et la voix, avec bascule automatique si un modèle est saturé. Le tout déployé en un conteneur Docker sur Railway, avec 41 tests automatisés.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chiffres : 8 leçons, 6 jeux, 12 régions, 10 compagnons en 3D, 3 langues, et 41 tests automatisés qui vérifient notamment la sécurité : un enfant ne peut pas accéder aux données d'un autre, et un parent d'une autre famille non plus.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modèle. L'application amène vers la Box MyRugy : un vrai kit de tissage, proposé selon les intérêts de l'enfant. Le paiement passe par Payzone, simulé pour le hackathon. Et nous mesurons la valeur de la personnalisation avec un test à l'aveugle : les parents notent une proposition personnalisée et une générique, sans savoir laquelle est laquelle. [Ajouter ici le prix et les premiers résultats si disponibles.]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à la démo. Nous allons suivre une famille : le parent crée le compte, l'enfant crée son code secret, fait une leçon avec son compagnon, lui parle en arabe et l'entend répondre. Enfin, le parent retrouve les progrès, derrière son mot de passe. Astuce démo : utiliser Chrome ou Edge pour le micro, et un compte Gemini avec facturation pour éviter les quotas gratuits.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suite : filmer de vraies artisanes pour les vidéos, traduire les leçons et les jeux en français et en arabe (aujourd'hui le compagnon parle trois langues, mais le contenu des leçons est en anglais), lancer des pilotes avec des écoles et des coopératives, et passer en production avec une offre Gemini payante.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Merci ! Nous sommes prêts pour vos questions : sécurité de l'IA, protection des données des enfants, architecture ou modèle économique.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193A"/>
        </a:solidFill>
        <a:effectLst/>
      </p:bgPr>
    </p:bg>
    <p:spTree>
      <p:nvGrpSpPr>
        <p:cNvPr id="1" name=""/>
        <p:cNvGrpSpPr/>
        <p:nvPr/>
      </p:nvGrpSpPr>
      <p:grpSpPr/>
      <p:sp>
        <p:nvSpPr>
          <p:cNvPr id="2" name="Diamond 1"/>
          <p:cNvSpPr/>
          <p:nvPr/>
        </p:nvSpPr>
        <p:spPr>
          <a:xfrm>
            <a:off x="8445500" y="1079500"/>
            <a:ext cx="2286000" cy="2286000"/>
          </a:xfrm>
          <a:prstGeom prst="diamond">
            <a:avLst/>
          </a:prstGeom>
          <a:solidFill>
            <a:srgbClr val="3D4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iamond 2"/>
          <p:cNvSpPr/>
          <p:nvPr/>
        </p:nvSpPr>
        <p:spPr>
          <a:xfrm>
            <a:off x="9715500" y="2730500"/>
            <a:ext cx="1524000" cy="1524000"/>
          </a:xfrm>
          <a:prstGeom prst="diamond">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Diamond 3"/>
          <p:cNvSpPr/>
          <p:nvPr/>
        </p:nvSpPr>
        <p:spPr>
          <a:xfrm>
            <a:off x="7937500" y="3556000"/>
            <a:ext cx="1270000" cy="1270000"/>
          </a:xfrm>
          <a:prstGeom prst="diamond">
            <a:avLst/>
          </a:prstGeom>
          <a:solidFill>
            <a:srgbClr val="C45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90000" y="1778000"/>
            <a:ext cx="1397000" cy="889000"/>
          </a:xfrm>
          <a:prstGeom prst="rect">
            <a:avLst/>
          </a:prstGeom>
          <a:noFill/>
        </p:spPr>
        <p:txBody>
          <a:bodyPr wrap="square" lIns="0" rIns="0" tIns="0" bIns="0" anchor="t">
            <a:spAutoFit/>
          </a:bodyPr>
          <a:lstStyle/>
          <a:p>
            <a:pPr algn="ctr">
              <a:lnSpc>
                <a:spcPct val="115000"/>
              </a:lnSpc>
            </a:pPr>
            <a:r>
              <a:rPr sz="6000" b="0">
                <a:solidFill>
                  <a:srgbClr val="FBF6EE"/>
                </a:solidFill>
                <a:latin typeface="Segoe UI Emoji"/>
              </a:rPr>
              <a:t>🧶</a:t>
            </a:r>
          </a:p>
        </p:txBody>
      </p:sp>
      <p:sp>
        <p:nvSpPr>
          <p:cNvPr id="6" name="TextBox 5"/>
          <p:cNvSpPr txBox="1"/>
          <p:nvPr/>
        </p:nvSpPr>
        <p:spPr>
          <a:xfrm>
            <a:off x="812800" y="1587500"/>
            <a:ext cx="6985000" cy="279400"/>
          </a:xfrm>
          <a:prstGeom prst="rect">
            <a:avLst/>
          </a:prstGeom>
          <a:noFill/>
        </p:spPr>
        <p:txBody>
          <a:bodyPr wrap="square" lIns="0" rIns="0" tIns="0" bIns="0" anchor="t">
            <a:spAutoFit/>
          </a:bodyPr>
          <a:lstStyle/>
          <a:p>
            <a:pPr algn="l">
              <a:lnSpc>
                <a:spcPct val="115000"/>
              </a:lnSpc>
            </a:pPr>
            <a:r>
              <a:rPr sz="1500" b="1">
                <a:solidFill>
                  <a:srgbClr val="F2A93B"/>
                </a:solidFill>
                <a:latin typeface="Segoe UI"/>
              </a:rPr>
              <a:t>HACKATHON 2026 · [NOM DE L'ÉQUIPE]</a:t>
            </a:r>
          </a:p>
        </p:txBody>
      </p:sp>
      <p:sp>
        <p:nvSpPr>
          <p:cNvPr id="7" name="TextBox 6"/>
          <p:cNvSpPr txBox="1"/>
          <p:nvPr/>
        </p:nvSpPr>
        <p:spPr>
          <a:xfrm>
            <a:off x="812800" y="2032000"/>
            <a:ext cx="6985000" cy="1079500"/>
          </a:xfrm>
          <a:prstGeom prst="rect">
            <a:avLst/>
          </a:prstGeom>
          <a:noFill/>
        </p:spPr>
        <p:txBody>
          <a:bodyPr wrap="square" lIns="0" rIns="0" tIns="0" bIns="0" anchor="t">
            <a:spAutoFit/>
          </a:bodyPr>
          <a:lstStyle/>
          <a:p>
            <a:pPr algn="l">
              <a:lnSpc>
                <a:spcPct val="115000"/>
              </a:lnSpc>
            </a:pPr>
            <a:r>
              <a:rPr sz="7500" b="0">
                <a:solidFill>
                  <a:srgbClr val="FBF6EE"/>
                </a:solidFill>
                <a:latin typeface="Segoe UI Semibold"/>
              </a:rPr>
              <a:t>MyRugy Kids</a:t>
            </a:r>
          </a:p>
        </p:txBody>
      </p:sp>
      <p:sp>
        <p:nvSpPr>
          <p:cNvPr id="8" name="TextBox 7"/>
          <p:cNvSpPr txBox="1"/>
          <p:nvPr/>
        </p:nvSpPr>
        <p:spPr>
          <a:xfrm>
            <a:off x="812800" y="3302000"/>
            <a:ext cx="6667500" cy="1143000"/>
          </a:xfrm>
          <a:prstGeom prst="rect">
            <a:avLst/>
          </a:prstGeom>
          <a:noFill/>
        </p:spPr>
        <p:txBody>
          <a:bodyPr wrap="square" lIns="0" rIns="0" tIns="0" bIns="0" anchor="t">
            <a:spAutoFit/>
          </a:bodyPr>
          <a:lstStyle/>
          <a:p>
            <a:pPr algn="l">
              <a:lnSpc>
                <a:spcPct val="120000"/>
              </a:lnSpc>
            </a:pPr>
            <a:r>
              <a:rPr sz="2200" b="0">
                <a:solidFill>
                  <a:srgbClr val="C9CCE8"/>
                </a:solidFill>
                <a:latin typeface="Segoe UI"/>
              </a:rPr>
              <a:t>Les enfants apprennent l'art du tapis marocain avec un compagnon IA sûr, en voyageant à travers les 12 régions du Maroc.</a:t>
            </a:r>
          </a:p>
        </p:txBody>
      </p:sp>
      <p:sp>
        <p:nvSpPr>
          <p:cNvPr id="9" name="TextBox 8"/>
          <p:cNvSpPr txBox="1"/>
          <p:nvPr/>
        </p:nvSpPr>
        <p:spPr>
          <a:xfrm>
            <a:off x="812800" y="4826000"/>
            <a:ext cx="6985000" cy="698500"/>
          </a:xfrm>
          <a:prstGeom prst="rect">
            <a:avLst/>
          </a:prstGeom>
          <a:noFill/>
        </p:spPr>
        <p:txBody>
          <a:bodyPr wrap="square" lIns="0" rIns="0" tIns="0" bIns="0" anchor="t">
            <a:spAutoFit/>
          </a:bodyPr>
          <a:lstStyle/>
          <a:p>
            <a:pPr algn="l">
              <a:lnSpc>
                <a:spcPct val="115000"/>
              </a:lnSpc>
            </a:pPr>
            <a:r>
              <a:rPr sz="3600" b="0">
                <a:solidFill>
                  <a:srgbClr val="FBF6EE"/>
                </a:solidFill>
                <a:latin typeface="Segoe UI Emoji"/>
              </a:rPr>
              <a:t>🦊  🐪  🦁  🐬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6EE"/>
        </a:solidFill>
        <a:effectLst/>
      </p:bgPr>
    </p:bg>
    <p:spTree>
      <p:nvGrpSpPr>
        <p:cNvPr id="1" name=""/>
        <p:cNvGrpSpPr/>
        <p:nvPr/>
      </p:nvGrpSpPr>
      <p:grpSpPr/>
      <p:sp>
        <p:nvSpPr>
          <p:cNvPr id="2" name="TextBox 1"/>
          <p:cNvSpPr txBox="1"/>
          <p:nvPr/>
        </p:nvSpPr>
        <p:spPr>
          <a:xfrm>
            <a:off x="812800" y="812800"/>
            <a:ext cx="10566400" cy="254000"/>
          </a:xfrm>
          <a:prstGeom prst="rect">
            <a:avLst/>
          </a:prstGeom>
          <a:noFill/>
        </p:spPr>
        <p:txBody>
          <a:bodyPr wrap="square" lIns="0" rIns="0" tIns="0" bIns="0" anchor="t">
            <a:spAutoFit/>
          </a:bodyPr>
          <a:lstStyle/>
          <a:p>
            <a:pPr algn="l">
              <a:lnSpc>
                <a:spcPct val="115000"/>
              </a:lnSpc>
            </a:pPr>
            <a:r>
              <a:rPr sz="1400" b="1">
                <a:solidFill>
                  <a:srgbClr val="3D4FD6"/>
                </a:solidFill>
                <a:latin typeface="Segoe UI"/>
              </a:rPr>
              <a:t>LE CONSTAT</a:t>
            </a:r>
          </a:p>
        </p:txBody>
      </p:sp>
      <p:sp>
        <p:nvSpPr>
          <p:cNvPr id="3" name="TextBox 2"/>
          <p:cNvSpPr txBox="1"/>
          <p:nvPr/>
        </p:nvSpPr>
        <p:spPr>
          <a:xfrm>
            <a:off x="812800" y="1168400"/>
            <a:ext cx="10566400" cy="1079500"/>
          </a:xfrm>
          <a:prstGeom prst="rect">
            <a:avLst/>
          </a:prstGeom>
          <a:noFill/>
        </p:spPr>
        <p:txBody>
          <a:bodyPr wrap="square" lIns="0" rIns="0" tIns="0" bIns="0" anchor="t">
            <a:spAutoFit/>
          </a:bodyPr>
          <a:lstStyle/>
          <a:p>
            <a:pPr algn="l">
              <a:lnSpc>
                <a:spcPct val="105000"/>
              </a:lnSpc>
            </a:pPr>
            <a:r>
              <a:rPr sz="3600" b="0">
                <a:solidFill>
                  <a:srgbClr val="1E2140"/>
                </a:solidFill>
                <a:latin typeface="Segoe UI Semibold"/>
              </a:rPr>
              <a:t>Un savoir-faire précieux, loin du quotidien des enfants</a:t>
            </a:r>
          </a:p>
        </p:txBody>
      </p:sp>
      <p:sp>
        <p:nvSpPr>
          <p:cNvPr id="4" name="Rounded Rectangle 3"/>
          <p:cNvSpPr/>
          <p:nvPr/>
        </p:nvSpPr>
        <p:spPr>
          <a:xfrm>
            <a:off x="812800" y="2476500"/>
            <a:ext cx="3386666" cy="3175000"/>
          </a:xfrm>
          <a:prstGeom prst="roundRect">
            <a:avLst>
              <a:gd name="adj" fmla="val 5600"/>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6800" y="2730500"/>
            <a:ext cx="2878666" cy="469900"/>
          </a:xfrm>
          <a:prstGeom prst="rect">
            <a:avLst/>
          </a:prstGeom>
          <a:noFill/>
        </p:spPr>
        <p:txBody>
          <a:bodyPr wrap="square" lIns="0" rIns="0" tIns="0" bIns="0" anchor="t">
            <a:spAutoFit/>
          </a:bodyPr>
          <a:lstStyle/>
          <a:p>
            <a:pPr algn="l">
              <a:lnSpc>
                <a:spcPct val="115000"/>
              </a:lnSpc>
            </a:pPr>
            <a:r>
              <a:rPr sz="3200" b="0">
                <a:solidFill>
                  <a:srgbClr val="1E2140"/>
                </a:solidFill>
                <a:latin typeface="Segoe UI Emoji"/>
              </a:rPr>
              <a:t>🧶</a:t>
            </a:r>
          </a:p>
        </p:txBody>
      </p:sp>
      <p:sp>
        <p:nvSpPr>
          <p:cNvPr id="6" name="TextBox 5"/>
          <p:cNvSpPr txBox="1"/>
          <p:nvPr/>
        </p:nvSpPr>
        <p:spPr>
          <a:xfrm>
            <a:off x="1066800" y="3289300"/>
            <a:ext cx="2878666" cy="330200"/>
          </a:xfrm>
          <a:prstGeom prst="rect">
            <a:avLst/>
          </a:prstGeom>
          <a:noFill/>
        </p:spPr>
        <p:txBody>
          <a:bodyPr wrap="square" lIns="0" rIns="0" tIns="0" bIns="0" anchor="t">
            <a:spAutoFit/>
          </a:bodyPr>
          <a:lstStyle/>
          <a:p>
            <a:pPr algn="l">
              <a:lnSpc>
                <a:spcPct val="115000"/>
              </a:lnSpc>
            </a:pPr>
            <a:r>
              <a:rPr sz="2000" b="0">
                <a:solidFill>
                  <a:srgbClr val="1E2140"/>
                </a:solidFill>
                <a:latin typeface="Segoe UI Semibold"/>
              </a:rPr>
              <a:t>Un héritage vivant</a:t>
            </a:r>
          </a:p>
        </p:txBody>
      </p:sp>
      <p:sp>
        <p:nvSpPr>
          <p:cNvPr id="7" name="TextBox 6"/>
          <p:cNvSpPr txBox="1"/>
          <p:nvPr/>
        </p:nvSpPr>
        <p:spPr>
          <a:xfrm>
            <a:off x="1066800" y="3708400"/>
            <a:ext cx="2878666" cy="1778000"/>
          </a:xfrm>
          <a:prstGeom prst="rect">
            <a:avLst/>
          </a:prstGeom>
          <a:noFill/>
        </p:spPr>
        <p:txBody>
          <a:bodyPr wrap="square" lIns="0" rIns="0" tIns="0" bIns="0" anchor="t">
            <a:spAutoFit/>
          </a:bodyPr>
          <a:lstStyle/>
          <a:p>
            <a:pPr algn="l">
              <a:lnSpc>
                <a:spcPct val="120000"/>
              </a:lnSpc>
            </a:pPr>
            <a:r>
              <a:rPr sz="1500" b="0">
                <a:solidFill>
                  <a:srgbClr val="4A4868"/>
                </a:solidFill>
                <a:latin typeface="Segoe UI"/>
              </a:rPr>
              <a:t>Chaque tapis marocain raconte une région, des symboles et des gestes que les enfants découvrent rarement.</a:t>
            </a:r>
          </a:p>
        </p:txBody>
      </p:sp>
      <p:sp>
        <p:nvSpPr>
          <p:cNvPr id="8" name="Rounded Rectangle 7"/>
          <p:cNvSpPr/>
          <p:nvPr/>
        </p:nvSpPr>
        <p:spPr>
          <a:xfrm>
            <a:off x="4402666" y="2476500"/>
            <a:ext cx="3386666" cy="3175000"/>
          </a:xfrm>
          <a:prstGeom prst="roundRect">
            <a:avLst>
              <a:gd name="adj" fmla="val 5600"/>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56666" y="2730500"/>
            <a:ext cx="2878666" cy="469900"/>
          </a:xfrm>
          <a:prstGeom prst="rect">
            <a:avLst/>
          </a:prstGeom>
          <a:noFill/>
        </p:spPr>
        <p:txBody>
          <a:bodyPr wrap="square" lIns="0" rIns="0" tIns="0" bIns="0" anchor="t">
            <a:spAutoFit/>
          </a:bodyPr>
          <a:lstStyle/>
          <a:p>
            <a:pPr algn="l">
              <a:lnSpc>
                <a:spcPct val="115000"/>
              </a:lnSpc>
            </a:pPr>
            <a:r>
              <a:rPr sz="3200" b="0">
                <a:solidFill>
                  <a:srgbClr val="1E2140"/>
                </a:solidFill>
                <a:latin typeface="Segoe UI Emoji"/>
              </a:rPr>
              <a:t>📱</a:t>
            </a:r>
          </a:p>
        </p:txBody>
      </p:sp>
      <p:sp>
        <p:nvSpPr>
          <p:cNvPr id="10" name="TextBox 9"/>
          <p:cNvSpPr txBox="1"/>
          <p:nvPr/>
        </p:nvSpPr>
        <p:spPr>
          <a:xfrm>
            <a:off x="4656666" y="3289300"/>
            <a:ext cx="2878666" cy="330200"/>
          </a:xfrm>
          <a:prstGeom prst="rect">
            <a:avLst/>
          </a:prstGeom>
          <a:noFill/>
        </p:spPr>
        <p:txBody>
          <a:bodyPr wrap="square" lIns="0" rIns="0" tIns="0" bIns="0" anchor="t">
            <a:spAutoFit/>
          </a:bodyPr>
          <a:lstStyle/>
          <a:p>
            <a:pPr algn="l">
              <a:lnSpc>
                <a:spcPct val="115000"/>
              </a:lnSpc>
            </a:pPr>
            <a:r>
              <a:rPr sz="2000" b="0">
                <a:solidFill>
                  <a:srgbClr val="1E2140"/>
                </a:solidFill>
                <a:latin typeface="Segoe UI Semibold"/>
              </a:rPr>
              <a:t>Des écrans passifs</a:t>
            </a:r>
          </a:p>
        </p:txBody>
      </p:sp>
      <p:sp>
        <p:nvSpPr>
          <p:cNvPr id="11" name="TextBox 10"/>
          <p:cNvSpPr txBox="1"/>
          <p:nvPr/>
        </p:nvSpPr>
        <p:spPr>
          <a:xfrm>
            <a:off x="4656666" y="3708400"/>
            <a:ext cx="2878666" cy="1778000"/>
          </a:xfrm>
          <a:prstGeom prst="rect">
            <a:avLst/>
          </a:prstGeom>
          <a:noFill/>
        </p:spPr>
        <p:txBody>
          <a:bodyPr wrap="square" lIns="0" rIns="0" tIns="0" bIns="0" anchor="t">
            <a:spAutoFit/>
          </a:bodyPr>
          <a:lstStyle/>
          <a:p>
            <a:pPr algn="l">
              <a:lnSpc>
                <a:spcPct val="120000"/>
              </a:lnSpc>
            </a:pPr>
            <a:r>
              <a:rPr sz="1500" b="0">
                <a:solidFill>
                  <a:srgbClr val="4A4868"/>
                </a:solidFill>
                <a:latin typeface="Segoe UI"/>
              </a:rPr>
              <a:t>Les enfants regardent beaucoup de contenus, mais créent et comprennent peu de savoir-faire réels.</a:t>
            </a:r>
          </a:p>
        </p:txBody>
      </p:sp>
      <p:sp>
        <p:nvSpPr>
          <p:cNvPr id="12" name="Rounded Rectangle 11"/>
          <p:cNvSpPr/>
          <p:nvPr/>
        </p:nvSpPr>
        <p:spPr>
          <a:xfrm>
            <a:off x="7992533" y="2476500"/>
            <a:ext cx="3386666" cy="3175000"/>
          </a:xfrm>
          <a:prstGeom prst="roundRect">
            <a:avLst>
              <a:gd name="adj" fmla="val 5600"/>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6533" y="2730500"/>
            <a:ext cx="2878666" cy="469900"/>
          </a:xfrm>
          <a:prstGeom prst="rect">
            <a:avLst/>
          </a:prstGeom>
          <a:noFill/>
        </p:spPr>
        <p:txBody>
          <a:bodyPr wrap="square" lIns="0" rIns="0" tIns="0" bIns="0" anchor="t">
            <a:spAutoFit/>
          </a:bodyPr>
          <a:lstStyle/>
          <a:p>
            <a:pPr algn="l">
              <a:lnSpc>
                <a:spcPct val="115000"/>
              </a:lnSpc>
            </a:pPr>
            <a:r>
              <a:rPr sz="3200" b="0">
                <a:solidFill>
                  <a:srgbClr val="1E2140"/>
                </a:solidFill>
                <a:latin typeface="Segoe UI Emoji"/>
              </a:rPr>
              <a:t>🛡️</a:t>
            </a:r>
          </a:p>
        </p:txBody>
      </p:sp>
      <p:sp>
        <p:nvSpPr>
          <p:cNvPr id="14" name="TextBox 13"/>
          <p:cNvSpPr txBox="1"/>
          <p:nvPr/>
        </p:nvSpPr>
        <p:spPr>
          <a:xfrm>
            <a:off x="8246533" y="3289300"/>
            <a:ext cx="2878666" cy="330200"/>
          </a:xfrm>
          <a:prstGeom prst="rect">
            <a:avLst/>
          </a:prstGeom>
          <a:noFill/>
        </p:spPr>
        <p:txBody>
          <a:bodyPr wrap="square" lIns="0" rIns="0" tIns="0" bIns="0" anchor="t">
            <a:spAutoFit/>
          </a:bodyPr>
          <a:lstStyle/>
          <a:p>
            <a:pPr algn="l">
              <a:lnSpc>
                <a:spcPct val="115000"/>
              </a:lnSpc>
            </a:pPr>
            <a:r>
              <a:rPr sz="2000" b="0">
                <a:solidFill>
                  <a:srgbClr val="1E2140"/>
                </a:solidFill>
                <a:latin typeface="Segoe UI Semibold"/>
              </a:rPr>
              <a:t>Des parents prudents</a:t>
            </a:r>
          </a:p>
        </p:txBody>
      </p:sp>
      <p:sp>
        <p:nvSpPr>
          <p:cNvPr id="15" name="TextBox 14"/>
          <p:cNvSpPr txBox="1"/>
          <p:nvPr/>
        </p:nvSpPr>
        <p:spPr>
          <a:xfrm>
            <a:off x="8246533" y="3708400"/>
            <a:ext cx="2878666" cy="1778000"/>
          </a:xfrm>
          <a:prstGeom prst="rect">
            <a:avLst/>
          </a:prstGeom>
          <a:noFill/>
        </p:spPr>
        <p:txBody>
          <a:bodyPr wrap="square" lIns="0" rIns="0" tIns="0" bIns="0" anchor="t">
            <a:spAutoFit/>
          </a:bodyPr>
          <a:lstStyle/>
          <a:p>
            <a:pPr algn="l">
              <a:lnSpc>
                <a:spcPct val="120000"/>
              </a:lnSpc>
            </a:pPr>
            <a:r>
              <a:rPr sz="1500" b="0">
                <a:solidFill>
                  <a:srgbClr val="4A4868"/>
                </a:solidFill>
                <a:latin typeface="Segoe UI"/>
              </a:rPr>
              <a:t>Une IA pour enfants doit être bienveillante, adaptée à leur âge et contrôlée par les parents.</a:t>
            </a:r>
          </a:p>
        </p:txBody>
      </p:sp>
      <p:sp>
        <p:nvSpPr>
          <p:cNvPr id="16" name="TextBox 15"/>
          <p:cNvSpPr txBox="1"/>
          <p:nvPr/>
        </p:nvSpPr>
        <p:spPr>
          <a:xfrm>
            <a:off x="812800" y="6350000"/>
            <a:ext cx="7620000" cy="215900"/>
          </a:xfrm>
          <a:prstGeom prst="rect">
            <a:avLst/>
          </a:prstGeom>
          <a:noFill/>
        </p:spPr>
        <p:txBody>
          <a:bodyPr wrap="square" lIns="0" rIns="0" tIns="0" bIns="0" anchor="t">
            <a:spAutoFit/>
          </a:bodyPr>
          <a:lstStyle/>
          <a:p>
            <a:pPr algn="l">
              <a:lnSpc>
                <a:spcPct val="115000"/>
              </a:lnSpc>
            </a:pPr>
            <a:r>
              <a:rPr sz="1200" b="0">
                <a:solidFill>
                  <a:srgbClr val="8A8499"/>
                </a:solidFill>
                <a:latin typeface="Segoe UI"/>
              </a:rPr>
              <a:t>MyRugy Kids · Hackathon</a:t>
            </a:r>
          </a:p>
        </p:txBody>
      </p:sp>
      <p:sp>
        <p:nvSpPr>
          <p:cNvPr id="17" name="TextBox 16"/>
          <p:cNvSpPr txBox="1"/>
          <p:nvPr/>
        </p:nvSpPr>
        <p:spPr>
          <a:xfrm>
            <a:off x="10109200" y="6350000"/>
            <a:ext cx="1270000" cy="215900"/>
          </a:xfrm>
          <a:prstGeom prst="rect">
            <a:avLst/>
          </a:prstGeom>
          <a:noFill/>
        </p:spPr>
        <p:txBody>
          <a:bodyPr wrap="square" lIns="0" rIns="0" tIns="0" bIns="0" anchor="t">
            <a:spAutoFit/>
          </a:bodyPr>
          <a:lstStyle/>
          <a:p>
            <a:pPr algn="r">
              <a:lnSpc>
                <a:spcPct val="115000"/>
              </a:lnSpc>
            </a:pPr>
            <a:r>
              <a:rPr sz="1200" b="0">
                <a:solidFill>
                  <a:srgbClr val="8A8499"/>
                </a:solidFill>
                <a:latin typeface="Segoe U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3D4FD6"/>
        </a:solidFill>
        <a:effectLst/>
      </p:bgPr>
    </p:bg>
    <p:spTree>
      <p:nvGrpSpPr>
        <p:cNvPr id="1" name=""/>
        <p:cNvGrpSpPr/>
        <p:nvPr/>
      </p:nvGrpSpPr>
      <p:grpSpPr/>
      <p:sp>
        <p:nvSpPr>
          <p:cNvPr id="2" name="TextBox 1"/>
          <p:cNvSpPr txBox="1"/>
          <p:nvPr/>
        </p:nvSpPr>
        <p:spPr>
          <a:xfrm>
            <a:off x="812800" y="1460500"/>
            <a:ext cx="10566400" cy="254000"/>
          </a:xfrm>
          <a:prstGeom prst="rect">
            <a:avLst/>
          </a:prstGeom>
          <a:noFill/>
        </p:spPr>
        <p:txBody>
          <a:bodyPr wrap="square" lIns="0" rIns="0" tIns="0" bIns="0" anchor="t">
            <a:spAutoFit/>
          </a:bodyPr>
          <a:lstStyle/>
          <a:p>
            <a:pPr algn="l">
              <a:lnSpc>
                <a:spcPct val="115000"/>
              </a:lnSpc>
            </a:pPr>
            <a:r>
              <a:rPr sz="1400" b="1">
                <a:solidFill>
                  <a:srgbClr val="F2A93B"/>
                </a:solidFill>
                <a:latin typeface="Segoe UI"/>
              </a:rPr>
              <a:t>NOTRE SOLUTION</a:t>
            </a:r>
          </a:p>
        </p:txBody>
      </p:sp>
      <p:sp>
        <p:nvSpPr>
          <p:cNvPr id="3" name="TextBox 2"/>
          <p:cNvSpPr txBox="1"/>
          <p:nvPr/>
        </p:nvSpPr>
        <p:spPr>
          <a:xfrm>
            <a:off x="812800" y="1841500"/>
            <a:ext cx="10160000" cy="1905000"/>
          </a:xfrm>
          <a:prstGeom prst="rect">
            <a:avLst/>
          </a:prstGeom>
          <a:noFill/>
        </p:spPr>
        <p:txBody>
          <a:bodyPr wrap="square" lIns="0" rIns="0" tIns="0" bIns="0" anchor="t">
            <a:spAutoFit/>
          </a:bodyPr>
          <a:lstStyle/>
          <a:p>
            <a:pPr algn="l">
              <a:lnSpc>
                <a:spcPct val="110000"/>
              </a:lnSpc>
            </a:pPr>
            <a:r>
              <a:rPr sz="4200" b="0">
                <a:solidFill>
                  <a:srgbClr val="FBF6EE"/>
                </a:solidFill>
                <a:latin typeface="Segoe UI Semibold"/>
              </a:rPr>
              <a:t>Une aventure où l'enfant apprend, joue et crée son propre tapis, guidé par un compagnon IA qui lui ressemble.</a:t>
            </a:r>
          </a:p>
        </p:txBody>
      </p:sp>
      <p:sp>
        <p:nvSpPr>
          <p:cNvPr id="4" name="Rounded Rectangle 3"/>
          <p:cNvSpPr/>
          <p:nvPr/>
        </p:nvSpPr>
        <p:spPr>
          <a:xfrm>
            <a:off x="812800" y="4381500"/>
            <a:ext cx="1905000" cy="533400"/>
          </a:xfrm>
          <a:prstGeom prst="roundRect">
            <a:avLst>
              <a:gd name="adj" fmla="val 50000"/>
            </a:avLst>
          </a:prstGeom>
          <a:solidFill>
            <a:srgbClr val="FBF6EE"/>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800" b="1">
                <a:solidFill>
                  <a:srgbClr val="3D4FD6"/>
                </a:solidFill>
                <a:latin typeface="Segoe UI"/>
              </a:rPr>
              <a:t>🎬 Apprendre</a:t>
            </a:r>
          </a:p>
        </p:txBody>
      </p:sp>
      <p:sp>
        <p:nvSpPr>
          <p:cNvPr id="5" name="Rounded Rectangle 4"/>
          <p:cNvSpPr/>
          <p:nvPr/>
        </p:nvSpPr>
        <p:spPr>
          <a:xfrm>
            <a:off x="2870200" y="4381500"/>
            <a:ext cx="1524000" cy="533400"/>
          </a:xfrm>
          <a:prstGeom prst="roundRect">
            <a:avLst>
              <a:gd name="adj" fmla="val 50000"/>
            </a:avLst>
          </a:prstGeom>
          <a:solidFill>
            <a:srgbClr val="FBF6EE"/>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800" b="1">
                <a:solidFill>
                  <a:srgbClr val="3D4FD6"/>
                </a:solidFill>
                <a:latin typeface="Segoe UI"/>
              </a:rPr>
              <a:t>🎮 Jouer</a:t>
            </a:r>
          </a:p>
        </p:txBody>
      </p:sp>
      <p:sp>
        <p:nvSpPr>
          <p:cNvPr id="6" name="Rounded Rectangle 5"/>
          <p:cNvSpPr/>
          <p:nvPr/>
        </p:nvSpPr>
        <p:spPr>
          <a:xfrm>
            <a:off x="4546600" y="4381500"/>
            <a:ext cx="1778000" cy="533400"/>
          </a:xfrm>
          <a:prstGeom prst="roundRect">
            <a:avLst>
              <a:gd name="adj" fmla="val 50000"/>
            </a:avLst>
          </a:prstGeom>
          <a:solidFill>
            <a:srgbClr val="FBF6EE"/>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800" b="1">
                <a:solidFill>
                  <a:srgbClr val="3D4FD6"/>
                </a:solidFill>
                <a:latin typeface="Segoe UI"/>
              </a:rPr>
              <a:t>🗺️ Voyager</a:t>
            </a:r>
          </a:p>
        </p:txBody>
      </p:sp>
      <p:sp>
        <p:nvSpPr>
          <p:cNvPr id="7" name="Rounded Rectangle 6"/>
          <p:cNvSpPr/>
          <p:nvPr/>
        </p:nvSpPr>
        <p:spPr>
          <a:xfrm>
            <a:off x="6477000" y="4381500"/>
            <a:ext cx="1524000" cy="533400"/>
          </a:xfrm>
          <a:prstGeom prst="roundRect">
            <a:avLst>
              <a:gd name="adj" fmla="val 50000"/>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800" b="1">
                <a:solidFill>
                  <a:srgbClr val="15193A"/>
                </a:solidFill>
                <a:latin typeface="Segoe UI"/>
              </a:rPr>
              <a:t>🧶 Créer</a:t>
            </a:r>
          </a:p>
        </p:txBody>
      </p:sp>
      <p:sp>
        <p:nvSpPr>
          <p:cNvPr id="8" name="TextBox 7"/>
          <p:cNvSpPr txBox="1"/>
          <p:nvPr/>
        </p:nvSpPr>
        <p:spPr>
          <a:xfrm>
            <a:off x="812800" y="6350000"/>
            <a:ext cx="7620000" cy="215900"/>
          </a:xfrm>
          <a:prstGeom prst="rect">
            <a:avLst/>
          </a:prstGeom>
          <a:noFill/>
        </p:spPr>
        <p:txBody>
          <a:bodyPr wrap="square" lIns="0" rIns="0" tIns="0" bIns="0" anchor="t">
            <a:spAutoFit/>
          </a:bodyPr>
          <a:lstStyle/>
          <a:p>
            <a:pPr algn="l">
              <a:lnSpc>
                <a:spcPct val="115000"/>
              </a:lnSpc>
            </a:pPr>
            <a:r>
              <a:rPr sz="1200" b="0">
                <a:solidFill>
                  <a:srgbClr val="D5DAFF"/>
                </a:solidFill>
                <a:latin typeface="Segoe UI"/>
              </a:rPr>
              <a:t>MyRugy Kids · Hackathon</a:t>
            </a:r>
          </a:p>
        </p:txBody>
      </p:sp>
      <p:sp>
        <p:nvSpPr>
          <p:cNvPr id="9" name="TextBox 8"/>
          <p:cNvSpPr txBox="1"/>
          <p:nvPr/>
        </p:nvSpPr>
        <p:spPr>
          <a:xfrm>
            <a:off x="10109200" y="6350000"/>
            <a:ext cx="1270000" cy="215900"/>
          </a:xfrm>
          <a:prstGeom prst="rect">
            <a:avLst/>
          </a:prstGeom>
          <a:noFill/>
        </p:spPr>
        <p:txBody>
          <a:bodyPr wrap="square" lIns="0" rIns="0" tIns="0" bIns="0" anchor="t">
            <a:spAutoFit/>
          </a:bodyPr>
          <a:lstStyle/>
          <a:p>
            <a:pPr algn="r">
              <a:lnSpc>
                <a:spcPct val="115000"/>
              </a:lnSpc>
            </a:pPr>
            <a:r>
              <a:rPr sz="1200" b="0">
                <a:solidFill>
                  <a:srgbClr val="D5DAFF"/>
                </a:solidFill>
                <a:latin typeface="Segoe U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6EE"/>
        </a:solidFill>
        <a:effectLst/>
      </p:bgPr>
    </p:bg>
    <p:spTree>
      <p:nvGrpSpPr>
        <p:cNvPr id="1" name=""/>
        <p:cNvGrpSpPr/>
        <p:nvPr/>
      </p:nvGrpSpPr>
      <p:grpSpPr/>
      <p:sp>
        <p:nvSpPr>
          <p:cNvPr id="2" name="TextBox 1"/>
          <p:cNvSpPr txBox="1"/>
          <p:nvPr/>
        </p:nvSpPr>
        <p:spPr>
          <a:xfrm>
            <a:off x="812800" y="812800"/>
            <a:ext cx="10566400" cy="254000"/>
          </a:xfrm>
          <a:prstGeom prst="rect">
            <a:avLst/>
          </a:prstGeom>
          <a:noFill/>
        </p:spPr>
        <p:txBody>
          <a:bodyPr wrap="square" lIns="0" rIns="0" tIns="0" bIns="0" anchor="t">
            <a:spAutoFit/>
          </a:bodyPr>
          <a:lstStyle/>
          <a:p>
            <a:pPr algn="l">
              <a:lnSpc>
                <a:spcPct val="115000"/>
              </a:lnSpc>
            </a:pPr>
            <a:r>
              <a:rPr sz="1400" b="1">
                <a:solidFill>
                  <a:srgbClr val="3D4FD6"/>
                </a:solidFill>
                <a:latin typeface="Segoe UI"/>
              </a:rPr>
              <a:t>LE PARCOURS DE L'ENFANT</a:t>
            </a:r>
          </a:p>
        </p:txBody>
      </p:sp>
      <p:sp>
        <p:nvSpPr>
          <p:cNvPr id="3" name="TextBox 2"/>
          <p:cNvSpPr txBox="1"/>
          <p:nvPr/>
        </p:nvSpPr>
        <p:spPr>
          <a:xfrm>
            <a:off x="812800" y="1168400"/>
            <a:ext cx="10566400" cy="1079500"/>
          </a:xfrm>
          <a:prstGeom prst="rect">
            <a:avLst/>
          </a:prstGeom>
          <a:noFill/>
        </p:spPr>
        <p:txBody>
          <a:bodyPr wrap="square" lIns="0" rIns="0" tIns="0" bIns="0" anchor="t">
            <a:spAutoFit/>
          </a:bodyPr>
          <a:lstStyle/>
          <a:p>
            <a:pPr algn="l">
              <a:lnSpc>
                <a:spcPct val="105000"/>
              </a:lnSpc>
            </a:pPr>
            <a:r>
              <a:rPr sz="3600" b="0">
                <a:solidFill>
                  <a:srgbClr val="1E2140"/>
                </a:solidFill>
                <a:latin typeface="Segoe UI Semibold"/>
              </a:rPr>
              <a:t>De la carte d'explorateur au premier tapis</a:t>
            </a:r>
          </a:p>
        </p:txBody>
      </p:sp>
      <p:sp>
        <p:nvSpPr>
          <p:cNvPr id="4" name="Rounded Rectangle 3"/>
          <p:cNvSpPr/>
          <p:nvPr/>
        </p:nvSpPr>
        <p:spPr>
          <a:xfrm>
            <a:off x="812800" y="2476500"/>
            <a:ext cx="1706880" cy="2540000"/>
          </a:xfrm>
          <a:prstGeom prst="roundRect">
            <a:avLst>
              <a:gd name="adj" fmla="val 8928"/>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 y="2679700"/>
            <a:ext cx="1351280" cy="228600"/>
          </a:xfrm>
          <a:prstGeom prst="rect">
            <a:avLst/>
          </a:prstGeom>
          <a:noFill/>
        </p:spPr>
        <p:txBody>
          <a:bodyPr wrap="square" lIns="0" rIns="0" tIns="0" bIns="0" anchor="t">
            <a:spAutoFit/>
          </a:bodyPr>
          <a:lstStyle/>
          <a:p>
            <a:pPr algn="l">
              <a:lnSpc>
                <a:spcPct val="115000"/>
              </a:lnSpc>
            </a:pPr>
            <a:r>
              <a:rPr sz="1300" b="1">
                <a:solidFill>
                  <a:srgbClr val="3D4FD6"/>
                </a:solidFill>
                <a:latin typeface="Segoe UI"/>
              </a:rPr>
              <a:t>ÉTAPE 1</a:t>
            </a:r>
          </a:p>
        </p:txBody>
      </p:sp>
      <p:sp>
        <p:nvSpPr>
          <p:cNvPr id="6" name="TextBox 5"/>
          <p:cNvSpPr txBox="1"/>
          <p:nvPr/>
        </p:nvSpPr>
        <p:spPr>
          <a:xfrm>
            <a:off x="990600" y="2984500"/>
            <a:ext cx="1351280" cy="444500"/>
          </a:xfrm>
          <a:prstGeom prst="rect">
            <a:avLst/>
          </a:prstGeom>
          <a:noFill/>
        </p:spPr>
        <p:txBody>
          <a:bodyPr wrap="square" lIns="0" rIns="0" tIns="0" bIns="0" anchor="t">
            <a:spAutoFit/>
          </a:bodyPr>
          <a:lstStyle/>
          <a:p>
            <a:pPr algn="l">
              <a:lnSpc>
                <a:spcPct val="115000"/>
              </a:lnSpc>
            </a:pPr>
            <a:r>
              <a:rPr sz="2800" b="0">
                <a:solidFill>
                  <a:srgbClr val="1E2140"/>
                </a:solidFill>
                <a:latin typeface="Segoe UI Emoji"/>
              </a:rPr>
              <a:t>🧭</a:t>
            </a:r>
          </a:p>
        </p:txBody>
      </p:sp>
      <p:sp>
        <p:nvSpPr>
          <p:cNvPr id="7" name="TextBox 6"/>
          <p:cNvSpPr txBox="1"/>
          <p:nvPr/>
        </p:nvSpPr>
        <p:spPr>
          <a:xfrm>
            <a:off x="990600" y="3556000"/>
            <a:ext cx="1351280" cy="317500"/>
          </a:xfrm>
          <a:prstGeom prst="rect">
            <a:avLst/>
          </a:prstGeom>
          <a:noFill/>
        </p:spPr>
        <p:txBody>
          <a:bodyPr wrap="square" lIns="0" rIns="0" tIns="0" bIns="0" anchor="t">
            <a:spAutoFit/>
          </a:bodyPr>
          <a:lstStyle/>
          <a:p>
            <a:pPr algn="l">
              <a:lnSpc>
                <a:spcPct val="115000"/>
              </a:lnSpc>
            </a:pPr>
            <a:r>
              <a:rPr sz="1700" b="0">
                <a:solidFill>
                  <a:srgbClr val="1E2140"/>
                </a:solidFill>
                <a:latin typeface="Segoe UI Semibold"/>
              </a:rPr>
              <a:t>Onboarding</a:t>
            </a:r>
          </a:p>
        </p:txBody>
      </p:sp>
      <p:sp>
        <p:nvSpPr>
          <p:cNvPr id="8" name="TextBox 7"/>
          <p:cNvSpPr txBox="1"/>
          <p:nvPr/>
        </p:nvSpPr>
        <p:spPr>
          <a:xfrm>
            <a:off x="990600" y="3937000"/>
            <a:ext cx="1351280" cy="1524000"/>
          </a:xfrm>
          <a:prstGeom prst="rect">
            <a:avLst/>
          </a:prstGeom>
          <a:noFill/>
        </p:spPr>
        <p:txBody>
          <a:bodyPr wrap="square" lIns="0" rIns="0" tIns="0" bIns="0" anchor="t">
            <a:spAutoFit/>
          </a:bodyPr>
          <a:lstStyle/>
          <a:p>
            <a:pPr algn="l">
              <a:lnSpc>
                <a:spcPct val="120000"/>
              </a:lnSpc>
            </a:pPr>
            <a:r>
              <a:rPr sz="1300" b="0">
                <a:solidFill>
                  <a:srgbClr val="4A4868"/>
                </a:solidFill>
                <a:latin typeface="Segoe UI"/>
              </a:rPr>
              <a:t>9 étapes ludiques avec un adulte : prénom, âge, monde, langue.</a:t>
            </a:r>
          </a:p>
        </p:txBody>
      </p:sp>
      <p:sp>
        <p:nvSpPr>
          <p:cNvPr id="9" name="Right Arrow 8"/>
          <p:cNvSpPr/>
          <p:nvPr/>
        </p:nvSpPr>
        <p:spPr>
          <a:xfrm>
            <a:off x="2621280" y="3657600"/>
            <a:ext cx="304800" cy="177800"/>
          </a:xfrm>
          <a:prstGeom prst="rightArrow">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027680" y="2476500"/>
            <a:ext cx="1706880" cy="2540000"/>
          </a:xfrm>
          <a:prstGeom prst="roundRect">
            <a:avLst>
              <a:gd name="adj" fmla="val 8928"/>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5480" y="2679700"/>
            <a:ext cx="1351280" cy="228600"/>
          </a:xfrm>
          <a:prstGeom prst="rect">
            <a:avLst/>
          </a:prstGeom>
          <a:noFill/>
        </p:spPr>
        <p:txBody>
          <a:bodyPr wrap="square" lIns="0" rIns="0" tIns="0" bIns="0" anchor="t">
            <a:spAutoFit/>
          </a:bodyPr>
          <a:lstStyle/>
          <a:p>
            <a:pPr algn="l">
              <a:lnSpc>
                <a:spcPct val="115000"/>
              </a:lnSpc>
            </a:pPr>
            <a:r>
              <a:rPr sz="1300" b="1">
                <a:solidFill>
                  <a:srgbClr val="3D4FD6"/>
                </a:solidFill>
                <a:latin typeface="Segoe UI"/>
              </a:rPr>
              <a:t>ÉTAPE 2</a:t>
            </a:r>
          </a:p>
        </p:txBody>
      </p:sp>
      <p:sp>
        <p:nvSpPr>
          <p:cNvPr id="12" name="TextBox 11"/>
          <p:cNvSpPr txBox="1"/>
          <p:nvPr/>
        </p:nvSpPr>
        <p:spPr>
          <a:xfrm>
            <a:off x="3205480" y="2984500"/>
            <a:ext cx="1351280" cy="444500"/>
          </a:xfrm>
          <a:prstGeom prst="rect">
            <a:avLst/>
          </a:prstGeom>
          <a:noFill/>
        </p:spPr>
        <p:txBody>
          <a:bodyPr wrap="square" lIns="0" rIns="0" tIns="0" bIns="0" anchor="t">
            <a:spAutoFit/>
          </a:bodyPr>
          <a:lstStyle/>
          <a:p>
            <a:pPr algn="l">
              <a:lnSpc>
                <a:spcPct val="115000"/>
              </a:lnSpc>
            </a:pPr>
            <a:r>
              <a:rPr sz="2800" b="0">
                <a:solidFill>
                  <a:srgbClr val="1E2140"/>
                </a:solidFill>
                <a:latin typeface="Segoe UI Emoji"/>
              </a:rPr>
              <a:t>🧩</a:t>
            </a:r>
          </a:p>
        </p:txBody>
      </p:sp>
      <p:sp>
        <p:nvSpPr>
          <p:cNvPr id="13" name="TextBox 12"/>
          <p:cNvSpPr txBox="1"/>
          <p:nvPr/>
        </p:nvSpPr>
        <p:spPr>
          <a:xfrm>
            <a:off x="3205480" y="3556000"/>
            <a:ext cx="1351280" cy="317500"/>
          </a:xfrm>
          <a:prstGeom prst="rect">
            <a:avLst/>
          </a:prstGeom>
          <a:noFill/>
        </p:spPr>
        <p:txBody>
          <a:bodyPr wrap="square" lIns="0" rIns="0" tIns="0" bIns="0" anchor="t">
            <a:spAutoFit/>
          </a:bodyPr>
          <a:lstStyle/>
          <a:p>
            <a:pPr algn="l">
              <a:lnSpc>
                <a:spcPct val="115000"/>
              </a:lnSpc>
            </a:pPr>
            <a:r>
              <a:rPr sz="1700" b="0">
                <a:solidFill>
                  <a:srgbClr val="1E2140"/>
                </a:solidFill>
                <a:latin typeface="Segoe UI Semibold"/>
              </a:rPr>
              <a:t>Mini-défis</a:t>
            </a:r>
          </a:p>
        </p:txBody>
      </p:sp>
      <p:sp>
        <p:nvSpPr>
          <p:cNvPr id="14" name="TextBox 13"/>
          <p:cNvSpPr txBox="1"/>
          <p:nvPr/>
        </p:nvSpPr>
        <p:spPr>
          <a:xfrm>
            <a:off x="3205480" y="3937000"/>
            <a:ext cx="1351280" cy="1524000"/>
          </a:xfrm>
          <a:prstGeom prst="rect">
            <a:avLst/>
          </a:prstGeom>
          <a:noFill/>
        </p:spPr>
        <p:txBody>
          <a:bodyPr wrap="square" lIns="0" rIns="0" tIns="0" bIns="0" anchor="t">
            <a:spAutoFit/>
          </a:bodyPr>
          <a:lstStyle/>
          <a:p>
            <a:pPr algn="l">
              <a:lnSpc>
                <a:spcPct val="120000"/>
              </a:lnSpc>
            </a:pPr>
            <a:r>
              <a:rPr sz="1300" b="0">
                <a:solidFill>
                  <a:srgbClr val="4A4868"/>
                </a:solidFill>
                <a:latin typeface="Segoe UI"/>
              </a:rPr>
              <a:t>4 petits jeux créent son profil d'apprentissage.</a:t>
            </a:r>
          </a:p>
        </p:txBody>
      </p:sp>
      <p:sp>
        <p:nvSpPr>
          <p:cNvPr id="15" name="Right Arrow 14"/>
          <p:cNvSpPr/>
          <p:nvPr/>
        </p:nvSpPr>
        <p:spPr>
          <a:xfrm>
            <a:off x="4836160" y="3657600"/>
            <a:ext cx="304800" cy="177800"/>
          </a:xfrm>
          <a:prstGeom prst="rightArrow">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242560" y="2476500"/>
            <a:ext cx="1706880" cy="2540000"/>
          </a:xfrm>
          <a:prstGeom prst="roundRect">
            <a:avLst>
              <a:gd name="adj" fmla="val 8928"/>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20360" y="2679700"/>
            <a:ext cx="1351280" cy="228600"/>
          </a:xfrm>
          <a:prstGeom prst="rect">
            <a:avLst/>
          </a:prstGeom>
          <a:noFill/>
        </p:spPr>
        <p:txBody>
          <a:bodyPr wrap="square" lIns="0" rIns="0" tIns="0" bIns="0" anchor="t">
            <a:spAutoFit/>
          </a:bodyPr>
          <a:lstStyle/>
          <a:p>
            <a:pPr algn="l">
              <a:lnSpc>
                <a:spcPct val="115000"/>
              </a:lnSpc>
            </a:pPr>
            <a:r>
              <a:rPr sz="1300" b="1">
                <a:solidFill>
                  <a:srgbClr val="3D4FD6"/>
                </a:solidFill>
                <a:latin typeface="Segoe UI"/>
              </a:rPr>
              <a:t>ÉTAPE 3</a:t>
            </a:r>
          </a:p>
        </p:txBody>
      </p:sp>
      <p:sp>
        <p:nvSpPr>
          <p:cNvPr id="18" name="TextBox 17"/>
          <p:cNvSpPr txBox="1"/>
          <p:nvPr/>
        </p:nvSpPr>
        <p:spPr>
          <a:xfrm>
            <a:off x="5420360" y="2984500"/>
            <a:ext cx="1351280" cy="444500"/>
          </a:xfrm>
          <a:prstGeom prst="rect">
            <a:avLst/>
          </a:prstGeom>
          <a:noFill/>
        </p:spPr>
        <p:txBody>
          <a:bodyPr wrap="square" lIns="0" rIns="0" tIns="0" bIns="0" anchor="t">
            <a:spAutoFit/>
          </a:bodyPr>
          <a:lstStyle/>
          <a:p>
            <a:pPr algn="l">
              <a:lnSpc>
                <a:spcPct val="115000"/>
              </a:lnSpc>
            </a:pPr>
            <a:r>
              <a:rPr sz="2800" b="0">
                <a:solidFill>
                  <a:srgbClr val="1E2140"/>
                </a:solidFill>
                <a:latin typeface="Segoe UI Emoji"/>
              </a:rPr>
              <a:t>🎬</a:t>
            </a:r>
          </a:p>
        </p:txBody>
      </p:sp>
      <p:sp>
        <p:nvSpPr>
          <p:cNvPr id="19" name="TextBox 18"/>
          <p:cNvSpPr txBox="1"/>
          <p:nvPr/>
        </p:nvSpPr>
        <p:spPr>
          <a:xfrm>
            <a:off x="5420360" y="3556000"/>
            <a:ext cx="1351280" cy="317500"/>
          </a:xfrm>
          <a:prstGeom prst="rect">
            <a:avLst/>
          </a:prstGeom>
          <a:noFill/>
        </p:spPr>
        <p:txBody>
          <a:bodyPr wrap="square" lIns="0" rIns="0" tIns="0" bIns="0" anchor="t">
            <a:spAutoFit/>
          </a:bodyPr>
          <a:lstStyle/>
          <a:p>
            <a:pPr algn="l">
              <a:lnSpc>
                <a:spcPct val="115000"/>
              </a:lnSpc>
            </a:pPr>
            <a:r>
              <a:rPr sz="1700" b="0">
                <a:solidFill>
                  <a:srgbClr val="1E2140"/>
                </a:solidFill>
                <a:latin typeface="Segoe UI Semibold"/>
              </a:rPr>
              <a:t>Learn &amp; Play</a:t>
            </a:r>
          </a:p>
        </p:txBody>
      </p:sp>
      <p:sp>
        <p:nvSpPr>
          <p:cNvPr id="20" name="TextBox 19"/>
          <p:cNvSpPr txBox="1"/>
          <p:nvPr/>
        </p:nvSpPr>
        <p:spPr>
          <a:xfrm>
            <a:off x="5420360" y="3937000"/>
            <a:ext cx="1351280" cy="1524000"/>
          </a:xfrm>
          <a:prstGeom prst="rect">
            <a:avLst/>
          </a:prstGeom>
          <a:noFill/>
        </p:spPr>
        <p:txBody>
          <a:bodyPr wrap="square" lIns="0" rIns="0" tIns="0" bIns="0" anchor="t">
            <a:spAutoFit/>
          </a:bodyPr>
          <a:lstStyle/>
          <a:p>
            <a:pPr algn="l">
              <a:lnSpc>
                <a:spcPct val="120000"/>
              </a:lnSpc>
            </a:pPr>
            <a:r>
              <a:rPr sz="1300" b="0">
                <a:solidFill>
                  <a:srgbClr val="4A4868"/>
                </a:solidFill>
                <a:latin typeface="Segoe UI"/>
              </a:rPr>
              <a:t>8 leçons : regarder, pratiquer, découvrir, quiz.</a:t>
            </a:r>
          </a:p>
        </p:txBody>
      </p:sp>
      <p:sp>
        <p:nvSpPr>
          <p:cNvPr id="21" name="Right Arrow 20"/>
          <p:cNvSpPr/>
          <p:nvPr/>
        </p:nvSpPr>
        <p:spPr>
          <a:xfrm>
            <a:off x="7051040" y="3657600"/>
            <a:ext cx="304800" cy="177800"/>
          </a:xfrm>
          <a:prstGeom prst="rightArrow">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57440" y="2476500"/>
            <a:ext cx="1706880" cy="2540000"/>
          </a:xfrm>
          <a:prstGeom prst="roundRect">
            <a:avLst>
              <a:gd name="adj" fmla="val 8928"/>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35240" y="2679700"/>
            <a:ext cx="1351280" cy="228600"/>
          </a:xfrm>
          <a:prstGeom prst="rect">
            <a:avLst/>
          </a:prstGeom>
          <a:noFill/>
        </p:spPr>
        <p:txBody>
          <a:bodyPr wrap="square" lIns="0" rIns="0" tIns="0" bIns="0" anchor="t">
            <a:spAutoFit/>
          </a:bodyPr>
          <a:lstStyle/>
          <a:p>
            <a:pPr algn="l">
              <a:lnSpc>
                <a:spcPct val="115000"/>
              </a:lnSpc>
            </a:pPr>
            <a:r>
              <a:rPr sz="1300" b="1">
                <a:solidFill>
                  <a:srgbClr val="3D4FD6"/>
                </a:solidFill>
                <a:latin typeface="Segoe UI"/>
              </a:rPr>
              <a:t>ÉTAPE 4</a:t>
            </a:r>
          </a:p>
        </p:txBody>
      </p:sp>
      <p:sp>
        <p:nvSpPr>
          <p:cNvPr id="24" name="TextBox 23"/>
          <p:cNvSpPr txBox="1"/>
          <p:nvPr/>
        </p:nvSpPr>
        <p:spPr>
          <a:xfrm>
            <a:off x="7635240" y="2984500"/>
            <a:ext cx="1351280" cy="444500"/>
          </a:xfrm>
          <a:prstGeom prst="rect">
            <a:avLst/>
          </a:prstGeom>
          <a:noFill/>
        </p:spPr>
        <p:txBody>
          <a:bodyPr wrap="square" lIns="0" rIns="0" tIns="0" bIns="0" anchor="t">
            <a:spAutoFit/>
          </a:bodyPr>
          <a:lstStyle/>
          <a:p>
            <a:pPr algn="l">
              <a:lnSpc>
                <a:spcPct val="115000"/>
              </a:lnSpc>
            </a:pPr>
            <a:r>
              <a:rPr sz="2800" b="0">
                <a:solidFill>
                  <a:srgbClr val="1E2140"/>
                </a:solidFill>
                <a:latin typeface="Segoe UI Emoji"/>
              </a:rPr>
              <a:t>⭐</a:t>
            </a:r>
          </a:p>
        </p:txBody>
      </p:sp>
      <p:sp>
        <p:nvSpPr>
          <p:cNvPr id="25" name="TextBox 24"/>
          <p:cNvSpPr txBox="1"/>
          <p:nvPr/>
        </p:nvSpPr>
        <p:spPr>
          <a:xfrm>
            <a:off x="7635240" y="3556000"/>
            <a:ext cx="1351280" cy="317500"/>
          </a:xfrm>
          <a:prstGeom prst="rect">
            <a:avLst/>
          </a:prstGeom>
          <a:noFill/>
        </p:spPr>
        <p:txBody>
          <a:bodyPr wrap="square" lIns="0" rIns="0" tIns="0" bIns="0" anchor="t">
            <a:spAutoFit/>
          </a:bodyPr>
          <a:lstStyle/>
          <a:p>
            <a:pPr algn="l">
              <a:lnSpc>
                <a:spcPct val="115000"/>
              </a:lnSpc>
            </a:pPr>
            <a:r>
              <a:rPr sz="1700" b="0">
                <a:solidFill>
                  <a:srgbClr val="1E2140"/>
                </a:solidFill>
                <a:latin typeface="Segoe UI Semibold"/>
              </a:rPr>
              <a:t>Récompenses</a:t>
            </a:r>
          </a:p>
        </p:txBody>
      </p:sp>
      <p:sp>
        <p:nvSpPr>
          <p:cNvPr id="26" name="TextBox 25"/>
          <p:cNvSpPr txBox="1"/>
          <p:nvPr/>
        </p:nvSpPr>
        <p:spPr>
          <a:xfrm>
            <a:off x="7635240" y="3937000"/>
            <a:ext cx="1351280" cy="1524000"/>
          </a:xfrm>
          <a:prstGeom prst="rect">
            <a:avLst/>
          </a:prstGeom>
          <a:noFill/>
        </p:spPr>
        <p:txBody>
          <a:bodyPr wrap="square" lIns="0" rIns="0" tIns="0" bIns="0" anchor="t">
            <a:spAutoFit/>
          </a:bodyPr>
          <a:lstStyle/>
          <a:p>
            <a:pPr algn="l">
              <a:lnSpc>
                <a:spcPct val="120000"/>
              </a:lnSpc>
            </a:pPr>
            <a:r>
              <a:rPr sz="1300" b="0">
                <a:solidFill>
                  <a:srgbClr val="4A4868"/>
                </a:solidFill>
                <a:latin typeface="Segoe UI"/>
              </a:rPr>
              <a:t>Étoiles, objets débloqués, succès et passeport.</a:t>
            </a:r>
          </a:p>
        </p:txBody>
      </p:sp>
      <p:sp>
        <p:nvSpPr>
          <p:cNvPr id="27" name="Right Arrow 26"/>
          <p:cNvSpPr/>
          <p:nvPr/>
        </p:nvSpPr>
        <p:spPr>
          <a:xfrm>
            <a:off x="9265920" y="3657600"/>
            <a:ext cx="304800" cy="177800"/>
          </a:xfrm>
          <a:prstGeom prst="rightArrow">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672320" y="2476500"/>
            <a:ext cx="1706880" cy="2540000"/>
          </a:xfrm>
          <a:prstGeom prst="roundRect">
            <a:avLst>
              <a:gd name="adj" fmla="val 8928"/>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50120" y="2679700"/>
            <a:ext cx="1351280" cy="228600"/>
          </a:xfrm>
          <a:prstGeom prst="rect">
            <a:avLst/>
          </a:prstGeom>
          <a:noFill/>
        </p:spPr>
        <p:txBody>
          <a:bodyPr wrap="square" lIns="0" rIns="0" tIns="0" bIns="0" anchor="t">
            <a:spAutoFit/>
          </a:bodyPr>
          <a:lstStyle/>
          <a:p>
            <a:pPr algn="l">
              <a:lnSpc>
                <a:spcPct val="115000"/>
              </a:lnSpc>
            </a:pPr>
            <a:r>
              <a:rPr sz="1300" b="1">
                <a:solidFill>
                  <a:srgbClr val="3D4FD6"/>
                </a:solidFill>
                <a:latin typeface="Segoe UI"/>
              </a:rPr>
              <a:t>ÉTAPE 5</a:t>
            </a:r>
          </a:p>
        </p:txBody>
      </p:sp>
      <p:sp>
        <p:nvSpPr>
          <p:cNvPr id="30" name="TextBox 29"/>
          <p:cNvSpPr txBox="1"/>
          <p:nvPr/>
        </p:nvSpPr>
        <p:spPr>
          <a:xfrm>
            <a:off x="9850120" y="2984500"/>
            <a:ext cx="1351280" cy="444500"/>
          </a:xfrm>
          <a:prstGeom prst="rect">
            <a:avLst/>
          </a:prstGeom>
          <a:noFill/>
        </p:spPr>
        <p:txBody>
          <a:bodyPr wrap="square" lIns="0" rIns="0" tIns="0" bIns="0" anchor="t">
            <a:spAutoFit/>
          </a:bodyPr>
          <a:lstStyle/>
          <a:p>
            <a:pPr algn="l">
              <a:lnSpc>
                <a:spcPct val="115000"/>
              </a:lnSpc>
            </a:pPr>
            <a:r>
              <a:rPr sz="2800" b="0">
                <a:solidFill>
                  <a:srgbClr val="1E2140"/>
                </a:solidFill>
                <a:latin typeface="Segoe UI Emoji"/>
              </a:rPr>
              <a:t>🧶</a:t>
            </a:r>
          </a:p>
        </p:txBody>
      </p:sp>
      <p:sp>
        <p:nvSpPr>
          <p:cNvPr id="31" name="TextBox 30"/>
          <p:cNvSpPr txBox="1"/>
          <p:nvPr/>
        </p:nvSpPr>
        <p:spPr>
          <a:xfrm>
            <a:off x="9850120" y="3556000"/>
            <a:ext cx="1351280" cy="317500"/>
          </a:xfrm>
          <a:prstGeom prst="rect">
            <a:avLst/>
          </a:prstGeom>
          <a:noFill/>
        </p:spPr>
        <p:txBody>
          <a:bodyPr wrap="square" lIns="0" rIns="0" tIns="0" bIns="0" anchor="t">
            <a:spAutoFit/>
          </a:bodyPr>
          <a:lstStyle/>
          <a:p>
            <a:pPr algn="l">
              <a:lnSpc>
                <a:spcPct val="115000"/>
              </a:lnSpc>
            </a:pPr>
            <a:r>
              <a:rPr sz="1700" b="0">
                <a:solidFill>
                  <a:srgbClr val="1E2140"/>
                </a:solidFill>
                <a:latin typeface="Segoe UI Semibold"/>
              </a:rPr>
              <a:t>Mon tapis</a:t>
            </a:r>
          </a:p>
        </p:txBody>
      </p:sp>
      <p:sp>
        <p:nvSpPr>
          <p:cNvPr id="32" name="TextBox 31"/>
          <p:cNvSpPr txBox="1"/>
          <p:nvPr/>
        </p:nvSpPr>
        <p:spPr>
          <a:xfrm>
            <a:off x="9850120" y="3937000"/>
            <a:ext cx="1351280" cy="1524000"/>
          </a:xfrm>
          <a:prstGeom prst="rect">
            <a:avLst/>
          </a:prstGeom>
          <a:noFill/>
        </p:spPr>
        <p:txBody>
          <a:bodyPr wrap="square" lIns="0" rIns="0" tIns="0" bIns="0" anchor="t">
            <a:spAutoFit/>
          </a:bodyPr>
          <a:lstStyle/>
          <a:p>
            <a:pPr algn="l">
              <a:lnSpc>
                <a:spcPct val="120000"/>
              </a:lnSpc>
            </a:pPr>
            <a:r>
              <a:rPr sz="1300" b="0">
                <a:solidFill>
                  <a:srgbClr val="4A4868"/>
                </a:solidFill>
                <a:latin typeface="Segoe UI"/>
              </a:rPr>
              <a:t>L'atelier : il dessine et sauvegarde son tapis.</a:t>
            </a:r>
          </a:p>
        </p:txBody>
      </p:sp>
      <p:sp>
        <p:nvSpPr>
          <p:cNvPr id="33" name="TextBox 32"/>
          <p:cNvSpPr txBox="1"/>
          <p:nvPr/>
        </p:nvSpPr>
        <p:spPr>
          <a:xfrm>
            <a:off x="812800" y="6350000"/>
            <a:ext cx="7620000" cy="215900"/>
          </a:xfrm>
          <a:prstGeom prst="rect">
            <a:avLst/>
          </a:prstGeom>
          <a:noFill/>
        </p:spPr>
        <p:txBody>
          <a:bodyPr wrap="square" lIns="0" rIns="0" tIns="0" bIns="0" anchor="t">
            <a:spAutoFit/>
          </a:bodyPr>
          <a:lstStyle/>
          <a:p>
            <a:pPr algn="l">
              <a:lnSpc>
                <a:spcPct val="115000"/>
              </a:lnSpc>
            </a:pPr>
            <a:r>
              <a:rPr sz="1200" b="0">
                <a:solidFill>
                  <a:srgbClr val="8A8499"/>
                </a:solidFill>
                <a:latin typeface="Segoe UI"/>
              </a:rPr>
              <a:t>MyRugy Kids · Hackathon</a:t>
            </a:r>
          </a:p>
        </p:txBody>
      </p:sp>
      <p:sp>
        <p:nvSpPr>
          <p:cNvPr id="34" name="TextBox 33"/>
          <p:cNvSpPr txBox="1"/>
          <p:nvPr/>
        </p:nvSpPr>
        <p:spPr>
          <a:xfrm>
            <a:off x="10109200" y="6350000"/>
            <a:ext cx="1270000" cy="215900"/>
          </a:xfrm>
          <a:prstGeom prst="rect">
            <a:avLst/>
          </a:prstGeom>
          <a:noFill/>
        </p:spPr>
        <p:txBody>
          <a:bodyPr wrap="square" lIns="0" rIns="0" tIns="0" bIns="0" anchor="t">
            <a:spAutoFit/>
          </a:bodyPr>
          <a:lstStyle/>
          <a:p>
            <a:pPr algn="r">
              <a:lnSpc>
                <a:spcPct val="115000"/>
              </a:lnSpc>
            </a:pPr>
            <a:r>
              <a:rPr sz="1200" b="0">
                <a:solidFill>
                  <a:srgbClr val="8A8499"/>
                </a:solidFill>
                <a:latin typeface="Segoe U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6EE"/>
        </a:solidFill>
        <a:effectLst/>
      </p:bgPr>
    </p:bg>
    <p:spTree>
      <p:nvGrpSpPr>
        <p:cNvPr id="1" name=""/>
        <p:cNvGrpSpPr/>
        <p:nvPr/>
      </p:nvGrpSpPr>
      <p:grpSpPr/>
      <p:sp>
        <p:nvSpPr>
          <p:cNvPr id="2" name="TextBox 1"/>
          <p:cNvSpPr txBox="1"/>
          <p:nvPr/>
        </p:nvSpPr>
        <p:spPr>
          <a:xfrm>
            <a:off x="812800" y="812800"/>
            <a:ext cx="10566400" cy="254000"/>
          </a:xfrm>
          <a:prstGeom prst="rect">
            <a:avLst/>
          </a:prstGeom>
          <a:noFill/>
        </p:spPr>
        <p:txBody>
          <a:bodyPr wrap="square" lIns="0" rIns="0" tIns="0" bIns="0" anchor="t">
            <a:spAutoFit/>
          </a:bodyPr>
          <a:lstStyle/>
          <a:p>
            <a:pPr algn="l">
              <a:lnSpc>
                <a:spcPct val="115000"/>
              </a:lnSpc>
            </a:pPr>
            <a:r>
              <a:rPr sz="1400" b="1">
                <a:solidFill>
                  <a:srgbClr val="3D4FD6"/>
                </a:solidFill>
                <a:latin typeface="Segoe UI"/>
              </a:rPr>
              <a:t>UN VOYAGE À TRAVERS LE MAROC</a:t>
            </a:r>
          </a:p>
        </p:txBody>
      </p:sp>
      <p:sp>
        <p:nvSpPr>
          <p:cNvPr id="3" name="TextBox 2"/>
          <p:cNvSpPr txBox="1"/>
          <p:nvPr/>
        </p:nvSpPr>
        <p:spPr>
          <a:xfrm>
            <a:off x="812800" y="1168400"/>
            <a:ext cx="10566400" cy="1079500"/>
          </a:xfrm>
          <a:prstGeom prst="rect">
            <a:avLst/>
          </a:prstGeom>
          <a:noFill/>
        </p:spPr>
        <p:txBody>
          <a:bodyPr wrap="square" lIns="0" rIns="0" tIns="0" bIns="0" anchor="t">
            <a:spAutoFit/>
          </a:bodyPr>
          <a:lstStyle/>
          <a:p>
            <a:pPr algn="l">
              <a:lnSpc>
                <a:spcPct val="105000"/>
              </a:lnSpc>
            </a:pPr>
            <a:r>
              <a:rPr sz="3600" b="0">
                <a:solidFill>
                  <a:srgbClr val="1E2140"/>
                </a:solidFill>
                <a:latin typeface="Segoe UI Semibold"/>
              </a:rPr>
              <a:t>Chaque leçon fait visiter 1 ou 2 des 12 régions</a:t>
            </a:r>
          </a:p>
        </p:txBody>
      </p:sp>
      <p:sp>
        <p:nvSpPr>
          <p:cNvPr id="4" name="TextBox 3"/>
          <p:cNvSpPr txBox="1"/>
          <p:nvPr/>
        </p:nvSpPr>
        <p:spPr>
          <a:xfrm>
            <a:off x="812800" y="2540000"/>
            <a:ext cx="4826000" cy="3048000"/>
          </a:xfrm>
          <a:prstGeom prst="rect">
            <a:avLst/>
          </a:prstGeom>
          <a:noFill/>
        </p:spPr>
        <p:txBody>
          <a:bodyPr wrap="square" lIns="0" rIns="0" tIns="0" bIns="0" anchor="t">
            <a:spAutoFit/>
          </a:bodyPr>
          <a:lstStyle/>
          <a:p>
            <a:pPr algn="l">
              <a:lnSpc>
                <a:spcPct val="135000"/>
              </a:lnSpc>
            </a:pPr>
            <a:r>
              <a:rPr sz="1600" b="0">
                <a:solidFill>
                  <a:srgbClr val="4A4868"/>
                </a:solidFill>
                <a:latin typeface="Segoe UI"/>
              </a:rPr>
              <a:t>•  Une vraie carte du Maroc, avec le trajet de l'enfant</a:t>
            </a:r>
          </a:p>
          <a:p>
            <a:pPr algn="l">
              <a:lnSpc>
                <a:spcPct val="135000"/>
              </a:lnSpc>
            </a:pPr>
            <a:r>
              <a:rPr sz="1600" b="0">
                <a:solidFill>
                  <a:srgbClr val="4A4868"/>
                </a:solidFill>
                <a:latin typeface="Segoe UI"/>
              </a:rPr>
              <a:t>•  Le voyage commence dans sa région d'origine</a:t>
            </a:r>
          </a:p>
          <a:p>
            <a:pPr algn="l">
              <a:lnSpc>
                <a:spcPct val="135000"/>
              </a:lnSpc>
            </a:pPr>
            <a:r>
              <a:rPr sz="1600" b="0">
                <a:solidFill>
                  <a:srgbClr val="4A4868"/>
                </a:solidFill>
                <a:latin typeface="Segoe UI"/>
              </a:rPr>
              <a:t>•  Chaque région : son style de tapis, ses couleurs, ses motifs</a:t>
            </a:r>
          </a:p>
          <a:p>
            <a:pPr algn="l">
              <a:lnSpc>
                <a:spcPct val="135000"/>
              </a:lnSpc>
            </a:pPr>
            <a:r>
              <a:rPr sz="1600" b="0">
                <a:solidFill>
                  <a:srgbClr val="4A4868"/>
                </a:solidFill>
                <a:latin typeface="Segoe UI"/>
              </a:rPr>
              <a:t>•  Un passeport à tamponner et des questions régionales au quiz</a:t>
            </a:r>
          </a:p>
        </p:txBody>
      </p:sp>
      <p:sp>
        <p:nvSpPr>
          <p:cNvPr id="5" name="Rounded Rectangle 4"/>
          <p:cNvSpPr/>
          <p:nvPr/>
        </p:nvSpPr>
        <p:spPr>
          <a:xfrm>
            <a:off x="6045200" y="2476500"/>
            <a:ext cx="2603500" cy="419100"/>
          </a:xfrm>
          <a:prstGeom prst="roundRect">
            <a:avLst>
              <a:gd name="adj" fmla="val 24242"/>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lIns="114300"/>
          <a:lstStyle/>
          <a:p>
            <a:pPr algn="ctr"/>
            <a:r>
              <a:rPr sz="1300" b="1">
                <a:solidFill>
                  <a:srgbClr val="1E2140"/>
                </a:solidFill>
                <a:latin typeface="Segoe UI"/>
              </a:rPr>
              <a:t>📍 Tanger-Tétouan-Al Hoceïma</a:t>
            </a:r>
          </a:p>
        </p:txBody>
      </p:sp>
      <p:sp>
        <p:nvSpPr>
          <p:cNvPr id="6" name="Rounded Rectangle 5"/>
          <p:cNvSpPr/>
          <p:nvPr/>
        </p:nvSpPr>
        <p:spPr>
          <a:xfrm>
            <a:off x="8750300" y="2476500"/>
            <a:ext cx="2603500" cy="419100"/>
          </a:xfrm>
          <a:prstGeom prst="roundRect">
            <a:avLst>
              <a:gd name="adj" fmla="val 24242"/>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lIns="114300"/>
          <a:lstStyle/>
          <a:p>
            <a:pPr algn="ctr"/>
            <a:r>
              <a:rPr sz="1300" b="1">
                <a:solidFill>
                  <a:srgbClr val="1E2140"/>
                </a:solidFill>
                <a:latin typeface="Segoe UI"/>
              </a:rPr>
              <a:t>📍 L'Oriental</a:t>
            </a:r>
          </a:p>
        </p:txBody>
      </p:sp>
      <p:sp>
        <p:nvSpPr>
          <p:cNvPr id="7" name="Rounded Rectangle 6"/>
          <p:cNvSpPr/>
          <p:nvPr/>
        </p:nvSpPr>
        <p:spPr>
          <a:xfrm>
            <a:off x="6045200" y="2997200"/>
            <a:ext cx="2603500" cy="419100"/>
          </a:xfrm>
          <a:prstGeom prst="roundRect">
            <a:avLst>
              <a:gd name="adj" fmla="val 24242"/>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lIns="114300"/>
          <a:lstStyle/>
          <a:p>
            <a:pPr algn="ctr"/>
            <a:r>
              <a:rPr sz="1300" b="1">
                <a:solidFill>
                  <a:srgbClr val="1E2140"/>
                </a:solidFill>
                <a:latin typeface="Segoe UI"/>
              </a:rPr>
              <a:t>📍 Fès-Meknès</a:t>
            </a:r>
          </a:p>
        </p:txBody>
      </p:sp>
      <p:sp>
        <p:nvSpPr>
          <p:cNvPr id="8" name="Rounded Rectangle 7"/>
          <p:cNvSpPr/>
          <p:nvPr/>
        </p:nvSpPr>
        <p:spPr>
          <a:xfrm>
            <a:off x="8750300" y="2997200"/>
            <a:ext cx="2603500" cy="419100"/>
          </a:xfrm>
          <a:prstGeom prst="roundRect">
            <a:avLst>
              <a:gd name="adj" fmla="val 24242"/>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lIns="114300"/>
          <a:lstStyle/>
          <a:p>
            <a:pPr algn="ctr"/>
            <a:r>
              <a:rPr sz="1300" b="1">
                <a:solidFill>
                  <a:srgbClr val="1E2140"/>
                </a:solidFill>
                <a:latin typeface="Segoe UI"/>
              </a:rPr>
              <a:t>📍 Rabat-Salé-Kénitra</a:t>
            </a:r>
          </a:p>
        </p:txBody>
      </p:sp>
      <p:sp>
        <p:nvSpPr>
          <p:cNvPr id="9" name="Rounded Rectangle 8"/>
          <p:cNvSpPr/>
          <p:nvPr/>
        </p:nvSpPr>
        <p:spPr>
          <a:xfrm>
            <a:off x="6045200" y="3517900"/>
            <a:ext cx="2603500" cy="419100"/>
          </a:xfrm>
          <a:prstGeom prst="roundRect">
            <a:avLst>
              <a:gd name="adj" fmla="val 24242"/>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lIns="114300"/>
          <a:lstStyle/>
          <a:p>
            <a:pPr algn="ctr"/>
            <a:r>
              <a:rPr sz="1300" b="1">
                <a:solidFill>
                  <a:srgbClr val="1E2140"/>
                </a:solidFill>
                <a:latin typeface="Segoe UI"/>
              </a:rPr>
              <a:t>📍 Béni Mellal-Khénifra</a:t>
            </a:r>
          </a:p>
        </p:txBody>
      </p:sp>
      <p:sp>
        <p:nvSpPr>
          <p:cNvPr id="10" name="Rounded Rectangle 9"/>
          <p:cNvSpPr/>
          <p:nvPr/>
        </p:nvSpPr>
        <p:spPr>
          <a:xfrm>
            <a:off x="8750300" y="3517900"/>
            <a:ext cx="2603500" cy="419100"/>
          </a:xfrm>
          <a:prstGeom prst="roundRect">
            <a:avLst>
              <a:gd name="adj" fmla="val 24242"/>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lIns="114300"/>
          <a:lstStyle/>
          <a:p>
            <a:pPr algn="ctr"/>
            <a:r>
              <a:rPr sz="1300" b="1">
                <a:solidFill>
                  <a:srgbClr val="1E2140"/>
                </a:solidFill>
                <a:latin typeface="Segoe UI"/>
              </a:rPr>
              <a:t>📍 Casablanca-Settat</a:t>
            </a:r>
          </a:p>
        </p:txBody>
      </p:sp>
      <p:sp>
        <p:nvSpPr>
          <p:cNvPr id="11" name="Rounded Rectangle 10"/>
          <p:cNvSpPr/>
          <p:nvPr/>
        </p:nvSpPr>
        <p:spPr>
          <a:xfrm>
            <a:off x="6045200" y="4038600"/>
            <a:ext cx="2603500" cy="419100"/>
          </a:xfrm>
          <a:prstGeom prst="roundRect">
            <a:avLst>
              <a:gd name="adj" fmla="val 24242"/>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lIns="114300"/>
          <a:lstStyle/>
          <a:p>
            <a:pPr algn="ctr"/>
            <a:r>
              <a:rPr sz="1300" b="1">
                <a:solidFill>
                  <a:srgbClr val="1E2140"/>
                </a:solidFill>
                <a:latin typeface="Segoe UI"/>
              </a:rPr>
              <a:t>📍 Marrakech-Safi</a:t>
            </a:r>
          </a:p>
        </p:txBody>
      </p:sp>
      <p:sp>
        <p:nvSpPr>
          <p:cNvPr id="12" name="Rounded Rectangle 11"/>
          <p:cNvSpPr/>
          <p:nvPr/>
        </p:nvSpPr>
        <p:spPr>
          <a:xfrm>
            <a:off x="8750300" y="4038600"/>
            <a:ext cx="2603500" cy="419100"/>
          </a:xfrm>
          <a:prstGeom prst="roundRect">
            <a:avLst>
              <a:gd name="adj" fmla="val 24242"/>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lIns="114300"/>
          <a:lstStyle/>
          <a:p>
            <a:pPr algn="ctr"/>
            <a:r>
              <a:rPr sz="1300" b="1">
                <a:solidFill>
                  <a:srgbClr val="1E2140"/>
                </a:solidFill>
                <a:latin typeface="Segoe UI"/>
              </a:rPr>
              <a:t>📍 Drâa-Tafilalet</a:t>
            </a:r>
          </a:p>
        </p:txBody>
      </p:sp>
      <p:sp>
        <p:nvSpPr>
          <p:cNvPr id="13" name="Rounded Rectangle 12"/>
          <p:cNvSpPr/>
          <p:nvPr/>
        </p:nvSpPr>
        <p:spPr>
          <a:xfrm>
            <a:off x="6045200" y="4559300"/>
            <a:ext cx="2603500" cy="419100"/>
          </a:xfrm>
          <a:prstGeom prst="roundRect">
            <a:avLst>
              <a:gd name="adj" fmla="val 24242"/>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lIns="114300"/>
          <a:lstStyle/>
          <a:p>
            <a:pPr algn="ctr"/>
            <a:r>
              <a:rPr sz="1300" b="1">
                <a:solidFill>
                  <a:srgbClr val="1E2140"/>
                </a:solidFill>
                <a:latin typeface="Segoe UI"/>
              </a:rPr>
              <a:t>📍 Souss-Massa</a:t>
            </a:r>
          </a:p>
        </p:txBody>
      </p:sp>
      <p:sp>
        <p:nvSpPr>
          <p:cNvPr id="14" name="Rounded Rectangle 13"/>
          <p:cNvSpPr/>
          <p:nvPr/>
        </p:nvSpPr>
        <p:spPr>
          <a:xfrm>
            <a:off x="8750300" y="4559300"/>
            <a:ext cx="2603500" cy="419100"/>
          </a:xfrm>
          <a:prstGeom prst="roundRect">
            <a:avLst>
              <a:gd name="adj" fmla="val 24242"/>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lIns="114300"/>
          <a:lstStyle/>
          <a:p>
            <a:pPr algn="ctr"/>
            <a:r>
              <a:rPr sz="1300" b="1">
                <a:solidFill>
                  <a:srgbClr val="1E2140"/>
                </a:solidFill>
                <a:latin typeface="Segoe UI"/>
              </a:rPr>
              <a:t>📍 Guelmim-Oued Noun</a:t>
            </a:r>
          </a:p>
        </p:txBody>
      </p:sp>
      <p:sp>
        <p:nvSpPr>
          <p:cNvPr id="15" name="Rounded Rectangle 14"/>
          <p:cNvSpPr/>
          <p:nvPr/>
        </p:nvSpPr>
        <p:spPr>
          <a:xfrm>
            <a:off x="6045200" y="5080000"/>
            <a:ext cx="2603500" cy="419100"/>
          </a:xfrm>
          <a:prstGeom prst="roundRect">
            <a:avLst>
              <a:gd name="adj" fmla="val 24242"/>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lIns="114300"/>
          <a:lstStyle/>
          <a:p>
            <a:pPr algn="ctr"/>
            <a:r>
              <a:rPr sz="1300" b="1">
                <a:solidFill>
                  <a:srgbClr val="1E2140"/>
                </a:solidFill>
                <a:latin typeface="Segoe UI"/>
              </a:rPr>
              <a:t>📍 Laâyoune-Sakia El Hamra</a:t>
            </a:r>
          </a:p>
        </p:txBody>
      </p:sp>
      <p:sp>
        <p:nvSpPr>
          <p:cNvPr id="16" name="Rounded Rectangle 15"/>
          <p:cNvSpPr/>
          <p:nvPr/>
        </p:nvSpPr>
        <p:spPr>
          <a:xfrm>
            <a:off x="8750300" y="5080000"/>
            <a:ext cx="2603500" cy="419100"/>
          </a:xfrm>
          <a:prstGeom prst="roundRect">
            <a:avLst>
              <a:gd name="adj" fmla="val 24242"/>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lIns="114300"/>
          <a:lstStyle/>
          <a:p>
            <a:pPr algn="ctr"/>
            <a:r>
              <a:rPr sz="1300" b="1">
                <a:solidFill>
                  <a:srgbClr val="1E2140"/>
                </a:solidFill>
                <a:latin typeface="Segoe UI"/>
              </a:rPr>
              <a:t>📍 Dakhla-Oued Ed-Dahab</a:t>
            </a:r>
          </a:p>
        </p:txBody>
      </p:sp>
      <p:sp>
        <p:nvSpPr>
          <p:cNvPr id="17" name="TextBox 16"/>
          <p:cNvSpPr txBox="1"/>
          <p:nvPr/>
        </p:nvSpPr>
        <p:spPr>
          <a:xfrm>
            <a:off x="812800" y="6350000"/>
            <a:ext cx="7620000" cy="215900"/>
          </a:xfrm>
          <a:prstGeom prst="rect">
            <a:avLst/>
          </a:prstGeom>
          <a:noFill/>
        </p:spPr>
        <p:txBody>
          <a:bodyPr wrap="square" lIns="0" rIns="0" tIns="0" bIns="0" anchor="t">
            <a:spAutoFit/>
          </a:bodyPr>
          <a:lstStyle/>
          <a:p>
            <a:pPr algn="l">
              <a:lnSpc>
                <a:spcPct val="115000"/>
              </a:lnSpc>
            </a:pPr>
            <a:r>
              <a:rPr sz="1200" b="0">
                <a:solidFill>
                  <a:srgbClr val="8A8499"/>
                </a:solidFill>
                <a:latin typeface="Segoe UI"/>
              </a:rPr>
              <a:t>MyRugy Kids · Hackathon</a:t>
            </a:r>
          </a:p>
        </p:txBody>
      </p:sp>
      <p:sp>
        <p:nvSpPr>
          <p:cNvPr id="18" name="TextBox 17"/>
          <p:cNvSpPr txBox="1"/>
          <p:nvPr/>
        </p:nvSpPr>
        <p:spPr>
          <a:xfrm>
            <a:off x="10109200" y="6350000"/>
            <a:ext cx="1270000" cy="215900"/>
          </a:xfrm>
          <a:prstGeom prst="rect">
            <a:avLst/>
          </a:prstGeom>
          <a:noFill/>
        </p:spPr>
        <p:txBody>
          <a:bodyPr wrap="square" lIns="0" rIns="0" tIns="0" bIns="0" anchor="t">
            <a:spAutoFit/>
          </a:bodyPr>
          <a:lstStyle/>
          <a:p>
            <a:pPr algn="r">
              <a:lnSpc>
                <a:spcPct val="115000"/>
              </a:lnSpc>
            </a:pPr>
            <a:r>
              <a:rPr sz="1200" b="0">
                <a:solidFill>
                  <a:srgbClr val="8A8499"/>
                </a:solidFill>
                <a:latin typeface="Segoe U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5193A"/>
        </a:solidFill>
        <a:effectLst/>
      </p:bgPr>
    </p:bg>
    <p:spTree>
      <p:nvGrpSpPr>
        <p:cNvPr id="1" name=""/>
        <p:cNvGrpSpPr/>
        <p:nvPr/>
      </p:nvGrpSpPr>
      <p:grpSpPr/>
      <p:sp>
        <p:nvSpPr>
          <p:cNvPr id="2" name="TextBox 1"/>
          <p:cNvSpPr txBox="1"/>
          <p:nvPr/>
        </p:nvSpPr>
        <p:spPr>
          <a:xfrm>
            <a:off x="812800" y="812800"/>
            <a:ext cx="10566400" cy="254000"/>
          </a:xfrm>
          <a:prstGeom prst="rect">
            <a:avLst/>
          </a:prstGeom>
          <a:noFill/>
        </p:spPr>
        <p:txBody>
          <a:bodyPr wrap="square" lIns="0" rIns="0" tIns="0" bIns="0" anchor="t">
            <a:spAutoFit/>
          </a:bodyPr>
          <a:lstStyle/>
          <a:p>
            <a:pPr algn="l">
              <a:lnSpc>
                <a:spcPct val="115000"/>
              </a:lnSpc>
            </a:pPr>
            <a:r>
              <a:rPr sz="1400" b="1">
                <a:solidFill>
                  <a:srgbClr val="F2A93B"/>
                </a:solidFill>
                <a:latin typeface="Segoe UI"/>
              </a:rPr>
              <a:t>LE COMPAGNON IA</a:t>
            </a:r>
          </a:p>
        </p:txBody>
      </p:sp>
      <p:sp>
        <p:nvSpPr>
          <p:cNvPr id="3" name="TextBox 2"/>
          <p:cNvSpPr txBox="1"/>
          <p:nvPr/>
        </p:nvSpPr>
        <p:spPr>
          <a:xfrm>
            <a:off x="812800" y="1168400"/>
            <a:ext cx="10566400" cy="1079500"/>
          </a:xfrm>
          <a:prstGeom prst="rect">
            <a:avLst/>
          </a:prstGeom>
          <a:noFill/>
        </p:spPr>
        <p:txBody>
          <a:bodyPr wrap="square" lIns="0" rIns="0" tIns="0" bIns="0" anchor="t">
            <a:spAutoFit/>
          </a:bodyPr>
          <a:lstStyle/>
          <a:p>
            <a:pPr algn="l">
              <a:lnSpc>
                <a:spcPct val="105000"/>
              </a:lnSpc>
            </a:pPr>
            <a:r>
              <a:rPr sz="3600" b="0">
                <a:solidFill>
                  <a:srgbClr val="FBF6EE"/>
                </a:solidFill>
                <a:latin typeface="Segoe UI Semibold"/>
              </a:rPr>
              <a:t>Son animal préféré devient son guide en 3D</a:t>
            </a:r>
          </a:p>
        </p:txBody>
      </p:sp>
      <p:sp>
        <p:nvSpPr>
          <p:cNvPr id="4" name="Rounded Rectangle 3"/>
          <p:cNvSpPr/>
          <p:nvPr/>
        </p:nvSpPr>
        <p:spPr>
          <a:xfrm>
            <a:off x="812800" y="2413000"/>
            <a:ext cx="3403600" cy="1663700"/>
          </a:xfrm>
          <a:prstGeom prst="roundRect">
            <a:avLst>
              <a:gd name="adj" fmla="val 10687"/>
            </a:avLst>
          </a:prstGeom>
          <a:solidFill>
            <a:srgbClr val="2026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616200"/>
            <a:ext cx="2997200" cy="368300"/>
          </a:xfrm>
          <a:prstGeom prst="rect">
            <a:avLst/>
          </a:prstGeom>
          <a:noFill/>
        </p:spPr>
        <p:txBody>
          <a:bodyPr wrap="square" lIns="0" rIns="0" tIns="0" bIns="0" anchor="t">
            <a:spAutoFit/>
          </a:bodyPr>
          <a:lstStyle/>
          <a:p>
            <a:pPr algn="l">
              <a:lnSpc>
                <a:spcPct val="115000"/>
              </a:lnSpc>
            </a:pPr>
            <a:r>
              <a:rPr sz="2400" b="0">
                <a:solidFill>
                  <a:srgbClr val="FBF6EE"/>
                </a:solidFill>
                <a:latin typeface="Segoe UI Emoji"/>
              </a:rPr>
              <a:t>🦁</a:t>
            </a:r>
          </a:p>
        </p:txBody>
      </p:sp>
      <p:sp>
        <p:nvSpPr>
          <p:cNvPr id="6" name="TextBox 5"/>
          <p:cNvSpPr txBox="1"/>
          <p:nvPr/>
        </p:nvSpPr>
        <p:spPr>
          <a:xfrm>
            <a:off x="1016000" y="3073400"/>
            <a:ext cx="2997200" cy="297180"/>
          </a:xfrm>
          <a:prstGeom prst="rect">
            <a:avLst/>
          </a:prstGeom>
          <a:noFill/>
        </p:spPr>
        <p:txBody>
          <a:bodyPr wrap="square" lIns="0" rIns="0" tIns="0" bIns="0" anchor="t">
            <a:spAutoFit/>
          </a:bodyPr>
          <a:lstStyle/>
          <a:p>
            <a:pPr algn="l">
              <a:lnSpc>
                <a:spcPct val="115000"/>
              </a:lnSpc>
            </a:pPr>
            <a:r>
              <a:rPr sz="1800" b="0">
                <a:solidFill>
                  <a:srgbClr val="FBF6EE"/>
                </a:solidFill>
                <a:latin typeface="Segoe UI Semibold"/>
              </a:rPr>
              <a:t>10 animaux en 3D</a:t>
            </a:r>
          </a:p>
        </p:txBody>
      </p:sp>
      <p:sp>
        <p:nvSpPr>
          <p:cNvPr id="7" name="TextBox 6"/>
          <p:cNvSpPr txBox="1"/>
          <p:nvPr/>
        </p:nvSpPr>
        <p:spPr>
          <a:xfrm>
            <a:off x="1016000" y="3459479"/>
            <a:ext cx="2997200" cy="502919"/>
          </a:xfrm>
          <a:prstGeom prst="rect">
            <a:avLst/>
          </a:prstGeom>
          <a:noFill/>
        </p:spPr>
        <p:txBody>
          <a:bodyPr wrap="square" lIns="0" rIns="0" tIns="0" bIns="0" anchor="t">
            <a:spAutoFit/>
          </a:bodyPr>
          <a:lstStyle/>
          <a:p>
            <a:pPr algn="l">
              <a:lnSpc>
                <a:spcPct val="120000"/>
              </a:lnSpc>
            </a:pPr>
            <a:r>
              <a:rPr sz="1400" b="0">
                <a:solidFill>
                  <a:srgbClr val="C9CCE8"/>
                </a:solidFill>
                <a:latin typeface="Segoe UI"/>
              </a:rPr>
              <a:t>Choisi à l'onboarding, en corps entier.</a:t>
            </a:r>
          </a:p>
        </p:txBody>
      </p:sp>
      <p:sp>
        <p:nvSpPr>
          <p:cNvPr id="8" name="Rounded Rectangle 7"/>
          <p:cNvSpPr/>
          <p:nvPr/>
        </p:nvSpPr>
        <p:spPr>
          <a:xfrm>
            <a:off x="4394200" y="2413000"/>
            <a:ext cx="3403600" cy="1663700"/>
          </a:xfrm>
          <a:prstGeom prst="roundRect">
            <a:avLst>
              <a:gd name="adj" fmla="val 10687"/>
            </a:avLst>
          </a:prstGeom>
          <a:solidFill>
            <a:srgbClr val="2026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7400" y="2616200"/>
            <a:ext cx="2997200" cy="368300"/>
          </a:xfrm>
          <a:prstGeom prst="rect">
            <a:avLst/>
          </a:prstGeom>
          <a:noFill/>
        </p:spPr>
        <p:txBody>
          <a:bodyPr wrap="square" lIns="0" rIns="0" tIns="0" bIns="0" anchor="t">
            <a:spAutoFit/>
          </a:bodyPr>
          <a:lstStyle/>
          <a:p>
            <a:pPr algn="l">
              <a:lnSpc>
                <a:spcPct val="115000"/>
              </a:lnSpc>
            </a:pPr>
            <a:r>
              <a:rPr sz="2400" b="0">
                <a:solidFill>
                  <a:srgbClr val="FBF6EE"/>
                </a:solidFill>
                <a:latin typeface="Segoe UI Emoji"/>
              </a:rPr>
              <a:t>🎭</a:t>
            </a:r>
          </a:p>
        </p:txBody>
      </p:sp>
      <p:sp>
        <p:nvSpPr>
          <p:cNvPr id="10" name="TextBox 9"/>
          <p:cNvSpPr txBox="1"/>
          <p:nvPr/>
        </p:nvSpPr>
        <p:spPr>
          <a:xfrm>
            <a:off x="4597400" y="3073400"/>
            <a:ext cx="2997200" cy="297180"/>
          </a:xfrm>
          <a:prstGeom prst="rect">
            <a:avLst/>
          </a:prstGeom>
          <a:noFill/>
        </p:spPr>
        <p:txBody>
          <a:bodyPr wrap="square" lIns="0" rIns="0" tIns="0" bIns="0" anchor="t">
            <a:spAutoFit/>
          </a:bodyPr>
          <a:lstStyle/>
          <a:p>
            <a:pPr algn="l">
              <a:lnSpc>
                <a:spcPct val="115000"/>
              </a:lnSpc>
            </a:pPr>
            <a:r>
              <a:rPr sz="1800" b="0">
                <a:solidFill>
                  <a:srgbClr val="FBF6EE"/>
                </a:solidFill>
                <a:latin typeface="Segoe UI Semibold"/>
              </a:rPr>
              <a:t>8 animations</a:t>
            </a:r>
          </a:p>
        </p:txBody>
      </p:sp>
      <p:sp>
        <p:nvSpPr>
          <p:cNvPr id="11" name="TextBox 10"/>
          <p:cNvSpPr txBox="1"/>
          <p:nvPr/>
        </p:nvSpPr>
        <p:spPr>
          <a:xfrm>
            <a:off x="4597400" y="3459479"/>
            <a:ext cx="2997200" cy="502919"/>
          </a:xfrm>
          <a:prstGeom prst="rect">
            <a:avLst/>
          </a:prstGeom>
          <a:noFill/>
        </p:spPr>
        <p:txBody>
          <a:bodyPr wrap="square" lIns="0" rIns="0" tIns="0" bIns="0" anchor="t">
            <a:spAutoFit/>
          </a:bodyPr>
          <a:lstStyle/>
          <a:p>
            <a:pPr algn="l">
              <a:lnSpc>
                <a:spcPct val="120000"/>
              </a:lnSpc>
            </a:pPr>
            <a:r>
              <a:rPr sz="1400" b="0">
                <a:solidFill>
                  <a:srgbClr val="C9CCE8"/>
                </a:solidFill>
                <a:latin typeface="Segoe UI"/>
              </a:rPr>
              <a:t>Marche, parle, écoute, réfléchit, explique, célèbre.</a:t>
            </a:r>
          </a:p>
        </p:txBody>
      </p:sp>
      <p:sp>
        <p:nvSpPr>
          <p:cNvPr id="12" name="Rounded Rectangle 11"/>
          <p:cNvSpPr/>
          <p:nvPr/>
        </p:nvSpPr>
        <p:spPr>
          <a:xfrm>
            <a:off x="7975600" y="2413000"/>
            <a:ext cx="3403600" cy="1663700"/>
          </a:xfrm>
          <a:prstGeom prst="roundRect">
            <a:avLst>
              <a:gd name="adj" fmla="val 10687"/>
            </a:avLst>
          </a:prstGeom>
          <a:solidFill>
            <a:srgbClr val="2026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78800" y="2616200"/>
            <a:ext cx="2997200" cy="368300"/>
          </a:xfrm>
          <a:prstGeom prst="rect">
            <a:avLst/>
          </a:prstGeom>
          <a:noFill/>
        </p:spPr>
        <p:txBody>
          <a:bodyPr wrap="square" lIns="0" rIns="0" tIns="0" bIns="0" anchor="t">
            <a:spAutoFit/>
          </a:bodyPr>
          <a:lstStyle/>
          <a:p>
            <a:pPr algn="l">
              <a:lnSpc>
                <a:spcPct val="115000"/>
              </a:lnSpc>
            </a:pPr>
            <a:r>
              <a:rPr sz="2400" b="0">
                <a:solidFill>
                  <a:srgbClr val="FBF6EE"/>
                </a:solidFill>
                <a:latin typeface="Segoe UI Emoji"/>
              </a:rPr>
              <a:t>🎤</a:t>
            </a:r>
          </a:p>
        </p:txBody>
      </p:sp>
      <p:sp>
        <p:nvSpPr>
          <p:cNvPr id="14" name="TextBox 13"/>
          <p:cNvSpPr txBox="1"/>
          <p:nvPr/>
        </p:nvSpPr>
        <p:spPr>
          <a:xfrm>
            <a:off x="8178800" y="3073400"/>
            <a:ext cx="2997200" cy="297180"/>
          </a:xfrm>
          <a:prstGeom prst="rect">
            <a:avLst/>
          </a:prstGeom>
          <a:noFill/>
        </p:spPr>
        <p:txBody>
          <a:bodyPr wrap="square" lIns="0" rIns="0" tIns="0" bIns="0" anchor="t">
            <a:spAutoFit/>
          </a:bodyPr>
          <a:lstStyle/>
          <a:p>
            <a:pPr algn="l">
              <a:lnSpc>
                <a:spcPct val="115000"/>
              </a:lnSpc>
            </a:pPr>
            <a:r>
              <a:rPr sz="1800" b="0">
                <a:solidFill>
                  <a:srgbClr val="FBF6EE"/>
                </a:solidFill>
                <a:latin typeface="Segoe UI Semibold"/>
              </a:rPr>
              <a:t>Parler ou écrire</a:t>
            </a:r>
          </a:p>
        </p:txBody>
      </p:sp>
      <p:sp>
        <p:nvSpPr>
          <p:cNvPr id="15" name="TextBox 14"/>
          <p:cNvSpPr txBox="1"/>
          <p:nvPr/>
        </p:nvSpPr>
        <p:spPr>
          <a:xfrm>
            <a:off x="8178800" y="3459479"/>
            <a:ext cx="2997200" cy="502919"/>
          </a:xfrm>
          <a:prstGeom prst="rect">
            <a:avLst/>
          </a:prstGeom>
          <a:noFill/>
        </p:spPr>
        <p:txBody>
          <a:bodyPr wrap="square" lIns="0" rIns="0" tIns="0" bIns="0" anchor="t">
            <a:spAutoFit/>
          </a:bodyPr>
          <a:lstStyle/>
          <a:p>
            <a:pPr algn="l">
              <a:lnSpc>
                <a:spcPct val="120000"/>
              </a:lnSpc>
            </a:pPr>
            <a:r>
              <a:rPr sz="1400" b="0">
                <a:solidFill>
                  <a:srgbClr val="C9CCE8"/>
                </a:solidFill>
                <a:latin typeface="Segoe UI"/>
              </a:rPr>
              <a:t>Un toucher : le micro écoute, ou l'enfant écrit.</a:t>
            </a:r>
          </a:p>
        </p:txBody>
      </p:sp>
      <p:sp>
        <p:nvSpPr>
          <p:cNvPr id="16" name="Rounded Rectangle 15"/>
          <p:cNvSpPr/>
          <p:nvPr/>
        </p:nvSpPr>
        <p:spPr>
          <a:xfrm>
            <a:off x="812800" y="4229100"/>
            <a:ext cx="3403600" cy="1663700"/>
          </a:xfrm>
          <a:prstGeom prst="roundRect">
            <a:avLst>
              <a:gd name="adj" fmla="val 10687"/>
            </a:avLst>
          </a:prstGeom>
          <a:solidFill>
            <a:srgbClr val="2026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6000" y="4432300"/>
            <a:ext cx="2997200" cy="368300"/>
          </a:xfrm>
          <a:prstGeom prst="rect">
            <a:avLst/>
          </a:prstGeom>
          <a:noFill/>
        </p:spPr>
        <p:txBody>
          <a:bodyPr wrap="square" lIns="0" rIns="0" tIns="0" bIns="0" anchor="t">
            <a:spAutoFit/>
          </a:bodyPr>
          <a:lstStyle/>
          <a:p>
            <a:pPr algn="l">
              <a:lnSpc>
                <a:spcPct val="115000"/>
              </a:lnSpc>
            </a:pPr>
            <a:r>
              <a:rPr sz="2400" b="0">
                <a:solidFill>
                  <a:srgbClr val="FBF6EE"/>
                </a:solidFill>
                <a:latin typeface="Segoe UI Emoji"/>
              </a:rPr>
              <a:t>🔊</a:t>
            </a:r>
          </a:p>
        </p:txBody>
      </p:sp>
      <p:sp>
        <p:nvSpPr>
          <p:cNvPr id="18" name="TextBox 17"/>
          <p:cNvSpPr txBox="1"/>
          <p:nvPr/>
        </p:nvSpPr>
        <p:spPr>
          <a:xfrm>
            <a:off x="1016000" y="4889500"/>
            <a:ext cx="2997200" cy="297180"/>
          </a:xfrm>
          <a:prstGeom prst="rect">
            <a:avLst/>
          </a:prstGeom>
          <a:noFill/>
        </p:spPr>
        <p:txBody>
          <a:bodyPr wrap="square" lIns="0" rIns="0" tIns="0" bIns="0" anchor="t">
            <a:spAutoFit/>
          </a:bodyPr>
          <a:lstStyle/>
          <a:p>
            <a:pPr algn="l">
              <a:lnSpc>
                <a:spcPct val="115000"/>
              </a:lnSpc>
            </a:pPr>
            <a:r>
              <a:rPr sz="1800" b="0">
                <a:solidFill>
                  <a:srgbClr val="FBF6EE"/>
                </a:solidFill>
                <a:latin typeface="Segoe UI Semibold"/>
              </a:rPr>
              <a:t>Voix Gemini</a:t>
            </a:r>
          </a:p>
        </p:txBody>
      </p:sp>
      <p:sp>
        <p:nvSpPr>
          <p:cNvPr id="19" name="TextBox 18"/>
          <p:cNvSpPr txBox="1"/>
          <p:nvPr/>
        </p:nvSpPr>
        <p:spPr>
          <a:xfrm>
            <a:off x="1016000" y="5275580"/>
            <a:ext cx="2997200" cy="502919"/>
          </a:xfrm>
          <a:prstGeom prst="rect">
            <a:avLst/>
          </a:prstGeom>
          <a:noFill/>
        </p:spPr>
        <p:txBody>
          <a:bodyPr wrap="square" lIns="0" rIns="0" tIns="0" bIns="0" anchor="t">
            <a:spAutoFit/>
          </a:bodyPr>
          <a:lstStyle/>
          <a:p>
            <a:pPr algn="l">
              <a:lnSpc>
                <a:spcPct val="120000"/>
              </a:lnSpc>
            </a:pPr>
            <a:r>
              <a:rPr sz="1400" b="0">
                <a:solidFill>
                  <a:srgbClr val="C9CCE8"/>
                </a:solidFill>
                <a:latin typeface="Segoe UI"/>
              </a:rPr>
              <a:t>Voix naturelle, bouche synchronisée au son.</a:t>
            </a:r>
          </a:p>
        </p:txBody>
      </p:sp>
      <p:sp>
        <p:nvSpPr>
          <p:cNvPr id="20" name="Rounded Rectangle 19"/>
          <p:cNvSpPr/>
          <p:nvPr/>
        </p:nvSpPr>
        <p:spPr>
          <a:xfrm>
            <a:off x="4394200" y="4229100"/>
            <a:ext cx="3403600" cy="1663700"/>
          </a:xfrm>
          <a:prstGeom prst="roundRect">
            <a:avLst>
              <a:gd name="adj" fmla="val 10687"/>
            </a:avLst>
          </a:prstGeom>
          <a:solidFill>
            <a:srgbClr val="2026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97400" y="4432300"/>
            <a:ext cx="2997200" cy="368300"/>
          </a:xfrm>
          <a:prstGeom prst="rect">
            <a:avLst/>
          </a:prstGeom>
          <a:noFill/>
        </p:spPr>
        <p:txBody>
          <a:bodyPr wrap="square" lIns="0" rIns="0" tIns="0" bIns="0" anchor="t">
            <a:spAutoFit/>
          </a:bodyPr>
          <a:lstStyle/>
          <a:p>
            <a:pPr algn="l">
              <a:lnSpc>
                <a:spcPct val="115000"/>
              </a:lnSpc>
            </a:pPr>
            <a:r>
              <a:rPr sz="2400" b="0">
                <a:solidFill>
                  <a:srgbClr val="FBF6EE"/>
                </a:solidFill>
                <a:latin typeface="Segoe UI Emoji"/>
              </a:rPr>
              <a:t>🌍</a:t>
            </a:r>
          </a:p>
        </p:txBody>
      </p:sp>
      <p:sp>
        <p:nvSpPr>
          <p:cNvPr id="22" name="TextBox 21"/>
          <p:cNvSpPr txBox="1"/>
          <p:nvPr/>
        </p:nvSpPr>
        <p:spPr>
          <a:xfrm>
            <a:off x="4597400" y="4889500"/>
            <a:ext cx="2997200" cy="297180"/>
          </a:xfrm>
          <a:prstGeom prst="rect">
            <a:avLst/>
          </a:prstGeom>
          <a:noFill/>
        </p:spPr>
        <p:txBody>
          <a:bodyPr wrap="square" lIns="0" rIns="0" tIns="0" bIns="0" anchor="t">
            <a:spAutoFit/>
          </a:bodyPr>
          <a:lstStyle/>
          <a:p>
            <a:pPr algn="l">
              <a:lnSpc>
                <a:spcPct val="115000"/>
              </a:lnSpc>
            </a:pPr>
            <a:r>
              <a:rPr sz="1800" b="0">
                <a:solidFill>
                  <a:srgbClr val="FBF6EE"/>
                </a:solidFill>
                <a:latin typeface="Segoe UI Semibold"/>
              </a:rPr>
              <a:t>FR · EN · AR</a:t>
            </a:r>
          </a:p>
        </p:txBody>
      </p:sp>
      <p:sp>
        <p:nvSpPr>
          <p:cNvPr id="23" name="TextBox 22"/>
          <p:cNvSpPr txBox="1"/>
          <p:nvPr/>
        </p:nvSpPr>
        <p:spPr>
          <a:xfrm>
            <a:off x="4597400" y="5275580"/>
            <a:ext cx="2997200" cy="502919"/>
          </a:xfrm>
          <a:prstGeom prst="rect">
            <a:avLst/>
          </a:prstGeom>
          <a:noFill/>
        </p:spPr>
        <p:txBody>
          <a:bodyPr wrap="square" lIns="0" rIns="0" tIns="0" bIns="0" anchor="t">
            <a:spAutoFit/>
          </a:bodyPr>
          <a:lstStyle/>
          <a:p>
            <a:pPr algn="l">
              <a:lnSpc>
                <a:spcPct val="120000"/>
              </a:lnSpc>
            </a:pPr>
            <a:r>
              <a:rPr sz="1400" b="0">
                <a:solidFill>
                  <a:srgbClr val="C9CCE8"/>
                </a:solidFill>
                <a:latin typeface="Segoe UI"/>
              </a:rPr>
              <a:t>Répond dans la langue de l'enfant.</a:t>
            </a:r>
          </a:p>
        </p:txBody>
      </p:sp>
      <p:sp>
        <p:nvSpPr>
          <p:cNvPr id="24" name="Rounded Rectangle 23"/>
          <p:cNvSpPr/>
          <p:nvPr/>
        </p:nvSpPr>
        <p:spPr>
          <a:xfrm>
            <a:off x="7975600" y="4229100"/>
            <a:ext cx="3403600" cy="1663700"/>
          </a:xfrm>
          <a:prstGeom prst="roundRect">
            <a:avLst>
              <a:gd name="adj" fmla="val 10687"/>
            </a:avLst>
          </a:prstGeom>
          <a:solidFill>
            <a:srgbClr val="2026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78800" y="4432300"/>
            <a:ext cx="2997200" cy="368300"/>
          </a:xfrm>
          <a:prstGeom prst="rect">
            <a:avLst/>
          </a:prstGeom>
          <a:noFill/>
        </p:spPr>
        <p:txBody>
          <a:bodyPr wrap="square" lIns="0" rIns="0" tIns="0" bIns="0" anchor="t">
            <a:spAutoFit/>
          </a:bodyPr>
          <a:lstStyle/>
          <a:p>
            <a:pPr algn="l">
              <a:lnSpc>
                <a:spcPct val="115000"/>
              </a:lnSpc>
            </a:pPr>
            <a:r>
              <a:rPr sz="2400" b="0">
                <a:solidFill>
                  <a:srgbClr val="FBF6EE"/>
                </a:solidFill>
                <a:latin typeface="Segoe UI Emoji"/>
              </a:rPr>
              <a:t>🧭</a:t>
            </a:r>
          </a:p>
        </p:txBody>
      </p:sp>
      <p:sp>
        <p:nvSpPr>
          <p:cNvPr id="26" name="TextBox 25"/>
          <p:cNvSpPr txBox="1"/>
          <p:nvPr/>
        </p:nvSpPr>
        <p:spPr>
          <a:xfrm>
            <a:off x="8178800" y="4889500"/>
            <a:ext cx="2997200" cy="297180"/>
          </a:xfrm>
          <a:prstGeom prst="rect">
            <a:avLst/>
          </a:prstGeom>
          <a:noFill/>
        </p:spPr>
        <p:txBody>
          <a:bodyPr wrap="square" lIns="0" rIns="0" tIns="0" bIns="0" anchor="t">
            <a:spAutoFit/>
          </a:bodyPr>
          <a:lstStyle/>
          <a:p>
            <a:pPr algn="l">
              <a:lnSpc>
                <a:spcPct val="115000"/>
              </a:lnSpc>
            </a:pPr>
            <a:r>
              <a:rPr sz="1800" b="0">
                <a:solidFill>
                  <a:srgbClr val="FBF6EE"/>
                </a:solidFill>
                <a:latin typeface="Segoe UI Semibold"/>
              </a:rPr>
              <a:t>Il voit l'écran</a:t>
            </a:r>
          </a:p>
        </p:txBody>
      </p:sp>
      <p:sp>
        <p:nvSpPr>
          <p:cNvPr id="27" name="TextBox 26"/>
          <p:cNvSpPr txBox="1"/>
          <p:nvPr/>
        </p:nvSpPr>
        <p:spPr>
          <a:xfrm>
            <a:off x="8178800" y="5275580"/>
            <a:ext cx="2997200" cy="502919"/>
          </a:xfrm>
          <a:prstGeom prst="rect">
            <a:avLst/>
          </a:prstGeom>
          <a:noFill/>
        </p:spPr>
        <p:txBody>
          <a:bodyPr wrap="square" lIns="0" rIns="0" tIns="0" bIns="0" anchor="t">
            <a:spAutoFit/>
          </a:bodyPr>
          <a:lstStyle/>
          <a:p>
            <a:pPr algn="l">
              <a:lnSpc>
                <a:spcPct val="120000"/>
              </a:lnSpc>
            </a:pPr>
            <a:r>
              <a:rPr sz="1400" b="0">
                <a:solidFill>
                  <a:srgbClr val="C9CCE8"/>
                </a:solidFill>
                <a:latin typeface="Segoe UI"/>
              </a:rPr>
              <a:t>Il connaît la page et les boutons visibles.</a:t>
            </a:r>
          </a:p>
        </p:txBody>
      </p:sp>
      <p:sp>
        <p:nvSpPr>
          <p:cNvPr id="28" name="TextBox 27"/>
          <p:cNvSpPr txBox="1"/>
          <p:nvPr/>
        </p:nvSpPr>
        <p:spPr>
          <a:xfrm>
            <a:off x="812800" y="6350000"/>
            <a:ext cx="7620000" cy="215900"/>
          </a:xfrm>
          <a:prstGeom prst="rect">
            <a:avLst/>
          </a:prstGeom>
          <a:noFill/>
        </p:spPr>
        <p:txBody>
          <a:bodyPr wrap="square" lIns="0" rIns="0" tIns="0" bIns="0" anchor="t">
            <a:spAutoFit/>
          </a:bodyPr>
          <a:lstStyle/>
          <a:p>
            <a:pPr algn="l">
              <a:lnSpc>
                <a:spcPct val="115000"/>
              </a:lnSpc>
            </a:pPr>
            <a:r>
              <a:rPr sz="1200" b="0">
                <a:solidFill>
                  <a:srgbClr val="7E82A8"/>
                </a:solidFill>
                <a:latin typeface="Segoe UI"/>
              </a:rPr>
              <a:t>MyRugy Kids · Hackathon</a:t>
            </a:r>
          </a:p>
        </p:txBody>
      </p:sp>
      <p:sp>
        <p:nvSpPr>
          <p:cNvPr id="29" name="TextBox 28"/>
          <p:cNvSpPr txBox="1"/>
          <p:nvPr/>
        </p:nvSpPr>
        <p:spPr>
          <a:xfrm>
            <a:off x="10109200" y="6350000"/>
            <a:ext cx="1270000" cy="215900"/>
          </a:xfrm>
          <a:prstGeom prst="rect">
            <a:avLst/>
          </a:prstGeom>
          <a:noFill/>
        </p:spPr>
        <p:txBody>
          <a:bodyPr wrap="square" lIns="0" rIns="0" tIns="0" bIns="0" anchor="t">
            <a:spAutoFit/>
          </a:bodyPr>
          <a:lstStyle/>
          <a:p>
            <a:pPr algn="r">
              <a:lnSpc>
                <a:spcPct val="115000"/>
              </a:lnSpc>
            </a:pPr>
            <a:r>
              <a:rPr sz="1200" b="0">
                <a:solidFill>
                  <a:srgbClr val="7E82A8"/>
                </a:solidFill>
                <a:latin typeface="Segoe U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6EE"/>
        </a:solidFill>
        <a:effectLst/>
      </p:bgPr>
    </p:bg>
    <p:spTree>
      <p:nvGrpSpPr>
        <p:cNvPr id="1" name=""/>
        <p:cNvGrpSpPr/>
        <p:nvPr/>
      </p:nvGrpSpPr>
      <p:grpSpPr/>
      <p:sp>
        <p:nvSpPr>
          <p:cNvPr id="2" name="TextBox 1"/>
          <p:cNvSpPr txBox="1"/>
          <p:nvPr/>
        </p:nvSpPr>
        <p:spPr>
          <a:xfrm>
            <a:off x="812800" y="812800"/>
            <a:ext cx="10566400" cy="254000"/>
          </a:xfrm>
          <a:prstGeom prst="rect">
            <a:avLst/>
          </a:prstGeom>
          <a:noFill/>
        </p:spPr>
        <p:txBody>
          <a:bodyPr wrap="square" lIns="0" rIns="0" tIns="0" bIns="0" anchor="t">
            <a:spAutoFit/>
          </a:bodyPr>
          <a:lstStyle/>
          <a:p>
            <a:pPr algn="l">
              <a:lnSpc>
                <a:spcPct val="115000"/>
              </a:lnSpc>
            </a:pPr>
            <a:r>
              <a:rPr sz="1400" b="1">
                <a:solidFill>
                  <a:srgbClr val="3D4FD6"/>
                </a:solidFill>
                <a:latin typeface="Segoe UI"/>
              </a:rPr>
              <a:t>UNE EXPÉRIENCE PERSONNALISÉE</a:t>
            </a:r>
          </a:p>
        </p:txBody>
      </p:sp>
      <p:sp>
        <p:nvSpPr>
          <p:cNvPr id="3" name="TextBox 2"/>
          <p:cNvSpPr txBox="1"/>
          <p:nvPr/>
        </p:nvSpPr>
        <p:spPr>
          <a:xfrm>
            <a:off x="812800" y="1168400"/>
            <a:ext cx="10566400" cy="1079500"/>
          </a:xfrm>
          <a:prstGeom prst="rect">
            <a:avLst/>
          </a:prstGeom>
          <a:noFill/>
        </p:spPr>
        <p:txBody>
          <a:bodyPr wrap="square" lIns="0" rIns="0" tIns="0" bIns="0" anchor="t">
            <a:spAutoFit/>
          </a:bodyPr>
          <a:lstStyle/>
          <a:p>
            <a:pPr algn="l">
              <a:lnSpc>
                <a:spcPct val="105000"/>
              </a:lnSpc>
            </a:pPr>
            <a:r>
              <a:rPr sz="3600" b="0">
                <a:solidFill>
                  <a:srgbClr val="1E2140"/>
                </a:solidFill>
                <a:latin typeface="Segoe UI Semibold"/>
              </a:rPr>
              <a:t>Chaque choix de l'enfant change l'application</a:t>
            </a:r>
          </a:p>
        </p:txBody>
      </p:sp>
      <p:graphicFrame>
        <p:nvGraphicFramePr>
          <p:cNvPr id="4" name="Table 3"/>
          <p:cNvGraphicFramePr>
            <a:graphicFrameLocks noGrp="1"/>
          </p:cNvGraphicFramePr>
          <p:nvPr/>
        </p:nvGraphicFramePr>
        <p:xfrm>
          <a:off x="812800" y="2476500"/>
          <a:ext cx="10566400" cy="3048000"/>
        </p:xfrm>
        <a:graphic>
          <a:graphicData uri="http://schemas.openxmlformats.org/drawingml/2006/table">
            <a:tbl>
              <a:tblPr firstRow="1" bandRow="1">
                <a:tableStyleId>{5C22544A-7EE6-4342-B048-85BDC9FD1C3A}</a:tableStyleId>
              </a:tblPr>
              <a:tblGrid>
                <a:gridCol w="4445000"/>
                <a:gridCol w="6121400"/>
              </a:tblGrid>
              <a:tr h="508000">
                <a:tc>
                  <a:txBody>
                    <a:bodyPr/>
                    <a:lstStyle/>
                    <a:p>
                      <a:r>
                        <a:rPr sz="1500" b="1">
                          <a:solidFill>
                            <a:srgbClr val="FBF6EE"/>
                          </a:solidFill>
                          <a:latin typeface="Segoe UI Semibold"/>
                        </a:rPr>
                        <a:t>Ce que l'enfant choisit</a:t>
                      </a:r>
                    </a:p>
                  </a:txBody>
                  <a:tcPr marL="152400" anchor="ctr">
                    <a:solidFill>
                      <a:srgbClr val="3D4FD6"/>
                    </a:solidFill>
                  </a:tcPr>
                </a:tc>
                <a:tc>
                  <a:txBody>
                    <a:bodyPr/>
                    <a:lstStyle/>
                    <a:p>
                      <a:r>
                        <a:rPr sz="1500" b="1">
                          <a:solidFill>
                            <a:srgbClr val="FBF6EE"/>
                          </a:solidFill>
                          <a:latin typeface="Segoe UI Semibold"/>
                        </a:rPr>
                        <a:t>Ce qui change</a:t>
                      </a:r>
                    </a:p>
                  </a:txBody>
                  <a:tcPr marL="152400" anchor="ctr">
                    <a:solidFill>
                      <a:srgbClr val="3D4FD6"/>
                    </a:solidFill>
                  </a:tcPr>
                </a:tc>
              </a:tr>
              <a:tr h="508000">
                <a:tc>
                  <a:txBody>
                    <a:bodyPr/>
                    <a:lstStyle/>
                    <a:p>
                      <a:r>
                        <a:rPr sz="1500" b="1">
                          <a:solidFill>
                            <a:srgbClr val="1E2140"/>
                          </a:solidFill>
                          <a:latin typeface="Segoe UI"/>
                        </a:rPr>
                        <a:t>🌍 Monde choisi (6 univers)</a:t>
                      </a:r>
                    </a:p>
                  </a:txBody>
                  <a:tcPr marL="152400" anchor="ctr">
                    <a:solidFill>
                      <a:srgbClr val="FFFFFF"/>
                    </a:solidFill>
                  </a:tcPr>
                </a:tc>
                <a:tc>
                  <a:txBody>
                    <a:bodyPr/>
                    <a:lstStyle/>
                    <a:p>
                      <a:r>
                        <a:rPr sz="1500" b="0">
                          <a:solidFill>
                            <a:srgbClr val="4A4868"/>
                          </a:solidFill>
                          <a:latin typeface="Segoe UI"/>
                        </a:rPr>
                        <a:t>Couleurs, décor animé, vocabulaire, exemples</a:t>
                      </a:r>
                    </a:p>
                  </a:txBody>
                  <a:tcPr marL="152400" anchor="ctr">
                    <a:solidFill>
                      <a:srgbClr val="FFFFFF"/>
                    </a:solidFill>
                  </a:tcPr>
                </a:tc>
              </a:tr>
              <a:tr h="508000">
                <a:tc>
                  <a:txBody>
                    <a:bodyPr/>
                    <a:lstStyle/>
                    <a:p>
                      <a:r>
                        <a:rPr sz="1500" b="1">
                          <a:solidFill>
                            <a:srgbClr val="1E2140"/>
                          </a:solidFill>
                          <a:latin typeface="Segoe UI"/>
                        </a:rPr>
                        <a:t>🎂 Âge</a:t>
                      </a:r>
                    </a:p>
                  </a:txBody>
                  <a:tcPr marL="152400" anchor="ctr">
                    <a:solidFill>
                      <a:srgbClr val="F4EEE3"/>
                    </a:solidFill>
                  </a:tcPr>
                </a:tc>
                <a:tc>
                  <a:txBody>
                    <a:bodyPr/>
                    <a:lstStyle/>
                    <a:p>
                      <a:r>
                        <a:rPr sz="1500" b="0">
                          <a:solidFill>
                            <a:srgbClr val="4A4868"/>
                          </a:solidFill>
                          <a:latin typeface="Segoe UI"/>
                        </a:rPr>
                        <a:t>Longueur des explications, taille des jeux, lecture à voix haute</a:t>
                      </a:r>
                    </a:p>
                  </a:txBody>
                  <a:tcPr marL="152400" anchor="ctr">
                    <a:solidFill>
                      <a:srgbClr val="F4EEE3"/>
                    </a:solidFill>
                  </a:tcPr>
                </a:tc>
              </a:tr>
              <a:tr h="508000">
                <a:tc>
                  <a:txBody>
                    <a:bodyPr/>
                    <a:lstStyle/>
                    <a:p>
                      <a:r>
                        <a:rPr sz="1500" b="1">
                          <a:solidFill>
                            <a:srgbClr val="1E2140"/>
                          </a:solidFill>
                          <a:latin typeface="Segoe UI"/>
                        </a:rPr>
                        <a:t>👀 Style : regarder, écouter, faire</a:t>
                      </a:r>
                    </a:p>
                  </a:txBody>
                  <a:tcPr marL="152400" anchor="ctr">
                    <a:solidFill>
                      <a:srgbClr val="FFFFFF"/>
                    </a:solidFill>
                  </a:tcPr>
                </a:tc>
                <a:tc>
                  <a:txBody>
                    <a:bodyPr/>
                    <a:lstStyle/>
                    <a:p>
                      <a:r>
                        <a:rPr sz="1500" b="0">
                          <a:solidFill>
                            <a:srgbClr val="4A4868"/>
                          </a:solidFill>
                          <a:latin typeface="Segoe UI"/>
                        </a:rPr>
                        <a:t>Ordre des sections et présentation des jeux</a:t>
                      </a:r>
                    </a:p>
                  </a:txBody>
                  <a:tcPr marL="152400" anchor="ctr">
                    <a:solidFill>
                      <a:srgbClr val="FFFFFF"/>
                    </a:solidFill>
                  </a:tcPr>
                </a:tc>
              </a:tr>
              <a:tr h="508000">
                <a:tc>
                  <a:txBody>
                    <a:bodyPr/>
                    <a:lstStyle/>
                    <a:p>
                      <a:r>
                        <a:rPr sz="1500" b="1">
                          <a:solidFill>
                            <a:srgbClr val="1E2140"/>
                          </a:solidFill>
                          <a:latin typeface="Segoe UI"/>
                        </a:rPr>
                        <a:t>🧩 Mini-défis</a:t>
                      </a:r>
                    </a:p>
                  </a:txBody>
                  <a:tcPr marL="152400" anchor="ctr">
                    <a:solidFill>
                      <a:srgbClr val="F4EEE3"/>
                    </a:solidFill>
                  </a:tcPr>
                </a:tc>
                <a:tc>
                  <a:txBody>
                    <a:bodyPr/>
                    <a:lstStyle/>
                    <a:p>
                      <a:r>
                        <a:rPr sz="1500" b="0">
                          <a:solidFill>
                            <a:srgbClr val="4A4868"/>
                          </a:solidFill>
                          <a:latin typeface="Segoe UI"/>
                        </a:rPr>
                        <a:t>Quand le compagnon propose de l'aide</a:t>
                      </a:r>
                    </a:p>
                  </a:txBody>
                  <a:tcPr marL="152400" anchor="ctr">
                    <a:solidFill>
                      <a:srgbClr val="F4EEE3"/>
                    </a:solidFill>
                  </a:tcPr>
                </a:tc>
              </a:tr>
              <a:tr h="508000">
                <a:tc>
                  <a:txBody>
                    <a:bodyPr/>
                    <a:lstStyle/>
                    <a:p>
                      <a:r>
                        <a:rPr sz="1500" b="1">
                          <a:solidFill>
                            <a:srgbClr val="1E2140"/>
                          </a:solidFill>
                          <a:latin typeface="Segoe UI"/>
                        </a:rPr>
                        <a:t>💬 Langue</a:t>
                      </a:r>
                    </a:p>
                  </a:txBody>
                  <a:tcPr marL="152400" anchor="ctr">
                    <a:solidFill>
                      <a:srgbClr val="FFFFFF"/>
                    </a:solidFill>
                  </a:tcPr>
                </a:tc>
                <a:tc>
                  <a:txBody>
                    <a:bodyPr/>
                    <a:lstStyle/>
                    <a:p>
                      <a:r>
                        <a:rPr sz="1500" b="0">
                          <a:solidFill>
                            <a:srgbClr val="4A4868"/>
                          </a:solidFill>
                          <a:latin typeface="Segoe UI"/>
                        </a:rPr>
                        <a:t>Compagnon, voix et micro en FR, EN ou AR</a:t>
                      </a:r>
                    </a:p>
                  </a:txBody>
                  <a:tcPr marL="152400" anchor="ctr">
                    <a:solidFill>
                      <a:srgbClr val="FFFFFF"/>
                    </a:solidFill>
                  </a:tcPr>
                </a:tc>
              </a:tr>
            </a:tbl>
          </a:graphicData>
        </a:graphic>
      </p:graphicFrame>
      <p:sp>
        <p:nvSpPr>
          <p:cNvPr id="5" name="TextBox 4"/>
          <p:cNvSpPr txBox="1"/>
          <p:nvPr/>
        </p:nvSpPr>
        <p:spPr>
          <a:xfrm>
            <a:off x="812800" y="6350000"/>
            <a:ext cx="7620000" cy="215900"/>
          </a:xfrm>
          <a:prstGeom prst="rect">
            <a:avLst/>
          </a:prstGeom>
          <a:noFill/>
        </p:spPr>
        <p:txBody>
          <a:bodyPr wrap="square" lIns="0" rIns="0" tIns="0" bIns="0" anchor="t">
            <a:spAutoFit/>
          </a:bodyPr>
          <a:lstStyle/>
          <a:p>
            <a:pPr algn="l">
              <a:lnSpc>
                <a:spcPct val="115000"/>
              </a:lnSpc>
            </a:pPr>
            <a:r>
              <a:rPr sz="1200" b="0">
                <a:solidFill>
                  <a:srgbClr val="8A8499"/>
                </a:solidFill>
                <a:latin typeface="Segoe UI"/>
              </a:rPr>
              <a:t>MyRugy Kids · Hackathon</a:t>
            </a:r>
          </a:p>
        </p:txBody>
      </p:sp>
      <p:sp>
        <p:nvSpPr>
          <p:cNvPr id="6" name="TextBox 5"/>
          <p:cNvSpPr txBox="1"/>
          <p:nvPr/>
        </p:nvSpPr>
        <p:spPr>
          <a:xfrm>
            <a:off x="10109200" y="6350000"/>
            <a:ext cx="1270000" cy="215900"/>
          </a:xfrm>
          <a:prstGeom prst="rect">
            <a:avLst/>
          </a:prstGeom>
          <a:noFill/>
        </p:spPr>
        <p:txBody>
          <a:bodyPr wrap="square" lIns="0" rIns="0" tIns="0" bIns="0" anchor="t">
            <a:spAutoFit/>
          </a:bodyPr>
          <a:lstStyle/>
          <a:p>
            <a:pPr algn="r">
              <a:lnSpc>
                <a:spcPct val="115000"/>
              </a:lnSpc>
            </a:pPr>
            <a:r>
              <a:rPr sz="1200" b="0">
                <a:solidFill>
                  <a:srgbClr val="8A8499"/>
                </a:solidFill>
                <a:latin typeface="Segoe U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6EE"/>
        </a:solidFill>
        <a:effectLst/>
      </p:bgPr>
    </p:bg>
    <p:spTree>
      <p:nvGrpSpPr>
        <p:cNvPr id="1" name=""/>
        <p:cNvGrpSpPr/>
        <p:nvPr/>
      </p:nvGrpSpPr>
      <p:grpSpPr/>
      <p:sp>
        <p:nvSpPr>
          <p:cNvPr id="2" name="TextBox 1"/>
          <p:cNvSpPr txBox="1"/>
          <p:nvPr/>
        </p:nvSpPr>
        <p:spPr>
          <a:xfrm>
            <a:off x="812800" y="812800"/>
            <a:ext cx="10566400" cy="254000"/>
          </a:xfrm>
          <a:prstGeom prst="rect">
            <a:avLst/>
          </a:prstGeom>
          <a:noFill/>
        </p:spPr>
        <p:txBody>
          <a:bodyPr wrap="square" lIns="0" rIns="0" tIns="0" bIns="0" anchor="t">
            <a:spAutoFit/>
          </a:bodyPr>
          <a:lstStyle/>
          <a:p>
            <a:pPr algn="l">
              <a:lnSpc>
                <a:spcPct val="115000"/>
              </a:lnSpc>
            </a:pPr>
            <a:r>
              <a:rPr sz="1400" b="1">
                <a:solidFill>
                  <a:srgbClr val="3D4FD6"/>
                </a:solidFill>
                <a:latin typeface="Segoe UI"/>
              </a:rPr>
              <a:t>UNE IA SÛRE POUR LES ENFANTS</a:t>
            </a:r>
          </a:p>
        </p:txBody>
      </p:sp>
      <p:sp>
        <p:nvSpPr>
          <p:cNvPr id="3" name="TextBox 2"/>
          <p:cNvSpPr txBox="1"/>
          <p:nvPr/>
        </p:nvSpPr>
        <p:spPr>
          <a:xfrm>
            <a:off x="812800" y="1168400"/>
            <a:ext cx="10566400" cy="1079500"/>
          </a:xfrm>
          <a:prstGeom prst="rect">
            <a:avLst/>
          </a:prstGeom>
          <a:noFill/>
        </p:spPr>
        <p:txBody>
          <a:bodyPr wrap="square" lIns="0" rIns="0" tIns="0" bIns="0" anchor="t">
            <a:spAutoFit/>
          </a:bodyPr>
          <a:lstStyle/>
          <a:p>
            <a:pPr algn="l">
              <a:lnSpc>
                <a:spcPct val="105000"/>
              </a:lnSpc>
            </a:pPr>
            <a:r>
              <a:rPr sz="3600" b="0">
                <a:solidFill>
                  <a:srgbClr val="1E2140"/>
                </a:solidFill>
                <a:latin typeface="Segoe UI Semibold"/>
              </a:rPr>
              <a:t>Deux garde-fous autour de chaque réponse</a:t>
            </a:r>
          </a:p>
        </p:txBody>
      </p:sp>
      <p:sp>
        <p:nvSpPr>
          <p:cNvPr id="4" name="Rounded Rectangle 3"/>
          <p:cNvSpPr/>
          <p:nvPr/>
        </p:nvSpPr>
        <p:spPr>
          <a:xfrm>
            <a:off x="812800" y="2476500"/>
            <a:ext cx="2279650" cy="1841500"/>
          </a:xfrm>
          <a:prstGeom prst="roundRect">
            <a:avLst>
              <a:gd name="adj" fmla="val 8275"/>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 y="2654300"/>
            <a:ext cx="1924050" cy="317500"/>
          </a:xfrm>
          <a:prstGeom prst="rect">
            <a:avLst/>
          </a:prstGeom>
          <a:noFill/>
        </p:spPr>
        <p:txBody>
          <a:bodyPr wrap="square" lIns="0" rIns="0" tIns="0" bIns="0" anchor="t">
            <a:spAutoFit/>
          </a:bodyPr>
          <a:lstStyle/>
          <a:p>
            <a:pPr algn="l">
              <a:lnSpc>
                <a:spcPct val="115000"/>
              </a:lnSpc>
            </a:pPr>
            <a:r>
              <a:rPr sz="1600" b="0">
                <a:solidFill>
                  <a:srgbClr val="1E2140"/>
                </a:solidFill>
                <a:latin typeface="Segoe UI Semibold"/>
              </a:rPr>
              <a:t>💬 Question</a:t>
            </a:r>
          </a:p>
        </p:txBody>
      </p:sp>
      <p:sp>
        <p:nvSpPr>
          <p:cNvPr id="6" name="TextBox 5"/>
          <p:cNvSpPr txBox="1"/>
          <p:nvPr/>
        </p:nvSpPr>
        <p:spPr>
          <a:xfrm>
            <a:off x="990600" y="3060700"/>
            <a:ext cx="1924050" cy="1143000"/>
          </a:xfrm>
          <a:prstGeom prst="rect">
            <a:avLst/>
          </a:prstGeom>
          <a:noFill/>
        </p:spPr>
        <p:txBody>
          <a:bodyPr wrap="square" lIns="0" rIns="0" tIns="0" bIns="0" anchor="t">
            <a:spAutoFit/>
          </a:bodyPr>
          <a:lstStyle/>
          <a:p>
            <a:pPr algn="l">
              <a:lnSpc>
                <a:spcPct val="120000"/>
              </a:lnSpc>
            </a:pPr>
            <a:r>
              <a:rPr sz="1300" b="0">
                <a:solidFill>
                  <a:srgbClr val="4A4868"/>
                </a:solidFill>
                <a:latin typeface="Segoe UI"/>
              </a:rPr>
              <a:t>L'enfant parle ou écrit.</a:t>
            </a:r>
          </a:p>
        </p:txBody>
      </p:sp>
      <p:sp>
        <p:nvSpPr>
          <p:cNvPr id="7" name="Right Arrow 6"/>
          <p:cNvSpPr/>
          <p:nvPr/>
        </p:nvSpPr>
        <p:spPr>
          <a:xfrm>
            <a:off x="3181350" y="3308350"/>
            <a:ext cx="304800" cy="177800"/>
          </a:xfrm>
          <a:prstGeom prst="rightArrow">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575050" y="2476500"/>
            <a:ext cx="2279650" cy="1841500"/>
          </a:xfrm>
          <a:prstGeom prst="roundRect">
            <a:avLst>
              <a:gd name="adj" fmla="val 8275"/>
            </a:avLst>
          </a:prstGeom>
          <a:solidFill>
            <a:srgbClr val="FFF4DE"/>
          </a:solidFill>
          <a:ln w="12700">
            <a:solidFill>
              <a:srgbClr val="F2A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52850" y="2654300"/>
            <a:ext cx="1924050" cy="317500"/>
          </a:xfrm>
          <a:prstGeom prst="rect">
            <a:avLst/>
          </a:prstGeom>
          <a:noFill/>
        </p:spPr>
        <p:txBody>
          <a:bodyPr wrap="square" lIns="0" rIns="0" tIns="0" bIns="0" anchor="t">
            <a:spAutoFit/>
          </a:bodyPr>
          <a:lstStyle/>
          <a:p>
            <a:pPr algn="l">
              <a:lnSpc>
                <a:spcPct val="115000"/>
              </a:lnSpc>
            </a:pPr>
            <a:r>
              <a:rPr sz="1600" b="0">
                <a:solidFill>
                  <a:srgbClr val="1E2140"/>
                </a:solidFill>
                <a:latin typeface="Segoe UI Semibold"/>
              </a:rPr>
              <a:t>🛡️ Garde-fou 1</a:t>
            </a:r>
          </a:p>
        </p:txBody>
      </p:sp>
      <p:sp>
        <p:nvSpPr>
          <p:cNvPr id="10" name="TextBox 9"/>
          <p:cNvSpPr txBox="1"/>
          <p:nvPr/>
        </p:nvSpPr>
        <p:spPr>
          <a:xfrm>
            <a:off x="3752850" y="3060700"/>
            <a:ext cx="1924050" cy="1143000"/>
          </a:xfrm>
          <a:prstGeom prst="rect">
            <a:avLst/>
          </a:prstGeom>
          <a:noFill/>
        </p:spPr>
        <p:txBody>
          <a:bodyPr wrap="square" lIns="0" rIns="0" tIns="0" bIns="0" anchor="t">
            <a:spAutoFit/>
          </a:bodyPr>
          <a:lstStyle/>
          <a:p>
            <a:pPr algn="l">
              <a:lnSpc>
                <a:spcPct val="120000"/>
              </a:lnSpc>
            </a:pPr>
            <a:r>
              <a:rPr sz="1300" b="0">
                <a:solidFill>
                  <a:srgbClr val="4A4868"/>
                </a:solidFill>
                <a:latin typeface="Segoe UI"/>
              </a:rPr>
              <a:t>Sujets sensibles, détournement, données perso : réponse bienveillante, sans IA.</a:t>
            </a:r>
          </a:p>
        </p:txBody>
      </p:sp>
      <p:sp>
        <p:nvSpPr>
          <p:cNvPr id="11" name="Right Arrow 10"/>
          <p:cNvSpPr/>
          <p:nvPr/>
        </p:nvSpPr>
        <p:spPr>
          <a:xfrm>
            <a:off x="5943600" y="3308350"/>
            <a:ext cx="304800" cy="177800"/>
          </a:xfrm>
          <a:prstGeom prst="rightArrow">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37300" y="2476500"/>
            <a:ext cx="2279650" cy="1841500"/>
          </a:xfrm>
          <a:prstGeom prst="roundRect">
            <a:avLst>
              <a:gd name="adj" fmla="val 8275"/>
            </a:avLst>
          </a:prstGeom>
          <a:solidFill>
            <a:srgbClr val="E9ECFF"/>
          </a:solidFill>
          <a:ln w="12700">
            <a:solidFill>
              <a:srgbClr val="3D4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5100" y="2654300"/>
            <a:ext cx="1924050" cy="317500"/>
          </a:xfrm>
          <a:prstGeom prst="rect">
            <a:avLst/>
          </a:prstGeom>
          <a:noFill/>
        </p:spPr>
        <p:txBody>
          <a:bodyPr wrap="square" lIns="0" rIns="0" tIns="0" bIns="0" anchor="t">
            <a:spAutoFit/>
          </a:bodyPr>
          <a:lstStyle/>
          <a:p>
            <a:pPr algn="l">
              <a:lnSpc>
                <a:spcPct val="115000"/>
              </a:lnSpc>
            </a:pPr>
            <a:r>
              <a:rPr sz="1600" b="0">
                <a:solidFill>
                  <a:srgbClr val="1E2140"/>
                </a:solidFill>
                <a:latin typeface="Segoe UI Semibold"/>
              </a:rPr>
              <a:t>✨ Gemini</a:t>
            </a:r>
          </a:p>
        </p:txBody>
      </p:sp>
      <p:sp>
        <p:nvSpPr>
          <p:cNvPr id="14" name="TextBox 13"/>
          <p:cNvSpPr txBox="1"/>
          <p:nvPr/>
        </p:nvSpPr>
        <p:spPr>
          <a:xfrm>
            <a:off x="6515100" y="3060700"/>
            <a:ext cx="1924050" cy="1143000"/>
          </a:xfrm>
          <a:prstGeom prst="rect">
            <a:avLst/>
          </a:prstGeom>
          <a:noFill/>
        </p:spPr>
        <p:txBody>
          <a:bodyPr wrap="square" lIns="0" rIns="0" tIns="0" bIns="0" anchor="t">
            <a:spAutoFit/>
          </a:bodyPr>
          <a:lstStyle/>
          <a:p>
            <a:pPr algn="l">
              <a:lnSpc>
                <a:spcPct val="120000"/>
              </a:lnSpc>
            </a:pPr>
            <a:r>
              <a:rPr sz="1300" b="0">
                <a:solidFill>
                  <a:srgbClr val="4A4868"/>
                </a:solidFill>
                <a:latin typeface="Segoe UI"/>
              </a:rPr>
              <a:t>Prompt adapté à l'âge, au niveau, au profil et à la page.</a:t>
            </a:r>
          </a:p>
        </p:txBody>
      </p:sp>
      <p:sp>
        <p:nvSpPr>
          <p:cNvPr id="15" name="Right Arrow 14"/>
          <p:cNvSpPr/>
          <p:nvPr/>
        </p:nvSpPr>
        <p:spPr>
          <a:xfrm>
            <a:off x="8705850" y="3308350"/>
            <a:ext cx="304800" cy="177800"/>
          </a:xfrm>
          <a:prstGeom prst="rightArrow">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99550" y="2476500"/>
            <a:ext cx="2279650" cy="1841500"/>
          </a:xfrm>
          <a:prstGeom prst="roundRect">
            <a:avLst>
              <a:gd name="adj" fmla="val 8275"/>
            </a:avLst>
          </a:prstGeom>
          <a:solidFill>
            <a:srgbClr val="FFF4DE"/>
          </a:solidFill>
          <a:ln w="12700">
            <a:solidFill>
              <a:srgbClr val="F2A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77350" y="2654300"/>
            <a:ext cx="1924050" cy="317500"/>
          </a:xfrm>
          <a:prstGeom prst="rect">
            <a:avLst/>
          </a:prstGeom>
          <a:noFill/>
        </p:spPr>
        <p:txBody>
          <a:bodyPr wrap="square" lIns="0" rIns="0" tIns="0" bIns="0" anchor="t">
            <a:spAutoFit/>
          </a:bodyPr>
          <a:lstStyle/>
          <a:p>
            <a:pPr algn="l">
              <a:lnSpc>
                <a:spcPct val="115000"/>
              </a:lnSpc>
            </a:pPr>
            <a:r>
              <a:rPr sz="1600" b="0">
                <a:solidFill>
                  <a:srgbClr val="1E2140"/>
                </a:solidFill>
                <a:latin typeface="Segoe UI Semibold"/>
              </a:rPr>
              <a:t>🛡️ Garde-fou 2</a:t>
            </a:r>
          </a:p>
        </p:txBody>
      </p:sp>
      <p:sp>
        <p:nvSpPr>
          <p:cNvPr id="18" name="TextBox 17"/>
          <p:cNvSpPr txBox="1"/>
          <p:nvPr/>
        </p:nvSpPr>
        <p:spPr>
          <a:xfrm>
            <a:off x="9277350" y="3060700"/>
            <a:ext cx="1924050" cy="1143000"/>
          </a:xfrm>
          <a:prstGeom prst="rect">
            <a:avLst/>
          </a:prstGeom>
          <a:noFill/>
        </p:spPr>
        <p:txBody>
          <a:bodyPr wrap="square" lIns="0" rIns="0" tIns="0" bIns="0" anchor="t">
            <a:spAutoFit/>
          </a:bodyPr>
          <a:lstStyle/>
          <a:p>
            <a:pPr algn="l">
              <a:lnSpc>
                <a:spcPct val="120000"/>
              </a:lnSpc>
            </a:pPr>
            <a:r>
              <a:rPr sz="1300" b="0">
                <a:solidFill>
                  <a:srgbClr val="4A4868"/>
                </a:solidFill>
                <a:latin typeface="Segoe UI"/>
              </a:rPr>
              <a:t>Aucune question perso, aucun lien, aucun mot dangereux.</a:t>
            </a:r>
          </a:p>
        </p:txBody>
      </p:sp>
      <p:sp>
        <p:nvSpPr>
          <p:cNvPr id="19" name="Rounded Rectangle 18"/>
          <p:cNvSpPr/>
          <p:nvPr/>
        </p:nvSpPr>
        <p:spPr>
          <a:xfrm>
            <a:off x="812800" y="4635500"/>
            <a:ext cx="3420533" cy="698500"/>
          </a:xfrm>
          <a:prstGeom prst="roundRect">
            <a:avLst>
              <a:gd name="adj" fmla="val 16363"/>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152400"/>
          <a:lstStyle/>
          <a:p>
            <a:pPr algn="ctr"/>
            <a:r>
              <a:rPr sz="1400" b="1">
                <a:solidFill>
                  <a:srgbClr val="1E2140"/>
                </a:solidFill>
                <a:latin typeface="Segoe UI"/>
              </a:rPr>
              <a:t>🔒 Le prénom n'est jamais envoyé à l'IA</a:t>
            </a:r>
          </a:p>
        </p:txBody>
      </p:sp>
      <p:sp>
        <p:nvSpPr>
          <p:cNvPr id="20" name="Rounded Rectangle 19"/>
          <p:cNvSpPr/>
          <p:nvPr/>
        </p:nvSpPr>
        <p:spPr>
          <a:xfrm>
            <a:off x="4385733" y="4635500"/>
            <a:ext cx="3420533" cy="698500"/>
          </a:xfrm>
          <a:prstGeom prst="roundRect">
            <a:avLst>
              <a:gd name="adj" fmla="val 16363"/>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152400"/>
          <a:lstStyle/>
          <a:p>
            <a:pPr algn="ctr"/>
            <a:r>
              <a:rPr sz="1400" b="1">
                <a:solidFill>
                  <a:srgbClr val="1E2140"/>
                </a:solidFill>
                <a:latin typeface="Segoe UI"/>
              </a:rPr>
              <a:t>💡 En quiz : des indices, jamais la réponse</a:t>
            </a:r>
          </a:p>
        </p:txBody>
      </p:sp>
      <p:sp>
        <p:nvSpPr>
          <p:cNvPr id="21" name="Rounded Rectangle 20"/>
          <p:cNvSpPr/>
          <p:nvPr/>
        </p:nvSpPr>
        <p:spPr>
          <a:xfrm>
            <a:off x="7958666" y="4635500"/>
            <a:ext cx="3420533" cy="698500"/>
          </a:xfrm>
          <a:prstGeom prst="roundRect">
            <a:avLst>
              <a:gd name="adj" fmla="val 16363"/>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wrap="square" lIns="152400" rIns="152400"/>
          <a:lstStyle/>
          <a:p>
            <a:pPr algn="ctr"/>
            <a:r>
              <a:rPr sz="1400" b="1">
                <a:solidFill>
                  <a:srgbClr val="1E2140"/>
                </a:solidFill>
                <a:latin typeface="Segoe UI"/>
              </a:rPr>
              <a:t>👀 Les parents relisent les échanges</a:t>
            </a:r>
          </a:p>
        </p:txBody>
      </p:sp>
      <p:sp>
        <p:nvSpPr>
          <p:cNvPr id="22" name="TextBox 21"/>
          <p:cNvSpPr txBox="1"/>
          <p:nvPr/>
        </p:nvSpPr>
        <p:spPr>
          <a:xfrm>
            <a:off x="812800" y="6350000"/>
            <a:ext cx="7620000" cy="215900"/>
          </a:xfrm>
          <a:prstGeom prst="rect">
            <a:avLst/>
          </a:prstGeom>
          <a:noFill/>
        </p:spPr>
        <p:txBody>
          <a:bodyPr wrap="square" lIns="0" rIns="0" tIns="0" bIns="0" anchor="t">
            <a:spAutoFit/>
          </a:bodyPr>
          <a:lstStyle/>
          <a:p>
            <a:pPr algn="l">
              <a:lnSpc>
                <a:spcPct val="115000"/>
              </a:lnSpc>
            </a:pPr>
            <a:r>
              <a:rPr sz="1200" b="0">
                <a:solidFill>
                  <a:srgbClr val="8A8499"/>
                </a:solidFill>
                <a:latin typeface="Segoe UI"/>
              </a:rPr>
              <a:t>MyRugy Kids · Hackathon</a:t>
            </a:r>
          </a:p>
        </p:txBody>
      </p:sp>
      <p:sp>
        <p:nvSpPr>
          <p:cNvPr id="23" name="TextBox 22"/>
          <p:cNvSpPr txBox="1"/>
          <p:nvPr/>
        </p:nvSpPr>
        <p:spPr>
          <a:xfrm>
            <a:off x="10109200" y="6350000"/>
            <a:ext cx="1270000" cy="215900"/>
          </a:xfrm>
          <a:prstGeom prst="rect">
            <a:avLst/>
          </a:prstGeom>
          <a:noFill/>
        </p:spPr>
        <p:txBody>
          <a:bodyPr wrap="square" lIns="0" rIns="0" tIns="0" bIns="0" anchor="t">
            <a:spAutoFit/>
          </a:bodyPr>
          <a:lstStyle/>
          <a:p>
            <a:pPr algn="r">
              <a:lnSpc>
                <a:spcPct val="115000"/>
              </a:lnSpc>
            </a:pPr>
            <a:r>
              <a:rPr sz="1200" b="0">
                <a:solidFill>
                  <a:srgbClr val="8A8499"/>
                </a:solidFill>
                <a:latin typeface="Segoe U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5193A"/>
        </a:solidFill>
        <a:effectLst/>
      </p:bgPr>
    </p:bg>
    <p:spTree>
      <p:nvGrpSpPr>
        <p:cNvPr id="1" name=""/>
        <p:cNvGrpSpPr/>
        <p:nvPr/>
      </p:nvGrpSpPr>
      <p:grpSpPr/>
      <p:sp>
        <p:nvSpPr>
          <p:cNvPr id="2" name="TextBox 1"/>
          <p:cNvSpPr txBox="1"/>
          <p:nvPr/>
        </p:nvSpPr>
        <p:spPr>
          <a:xfrm>
            <a:off x="812800" y="812800"/>
            <a:ext cx="10566400" cy="254000"/>
          </a:xfrm>
          <a:prstGeom prst="rect">
            <a:avLst/>
          </a:prstGeom>
          <a:noFill/>
        </p:spPr>
        <p:txBody>
          <a:bodyPr wrap="square" lIns="0" rIns="0" tIns="0" bIns="0" anchor="t">
            <a:spAutoFit/>
          </a:bodyPr>
          <a:lstStyle/>
          <a:p>
            <a:pPr algn="l">
              <a:lnSpc>
                <a:spcPct val="115000"/>
              </a:lnSpc>
            </a:pPr>
            <a:r>
              <a:rPr sz="1400" b="1">
                <a:solidFill>
                  <a:srgbClr val="F2A93B"/>
                </a:solidFill>
                <a:latin typeface="Segoe UI"/>
              </a:rPr>
              <a:t>SÉCURITÉ ET CONTRÔLE PARENTAL</a:t>
            </a:r>
          </a:p>
        </p:txBody>
      </p:sp>
      <p:sp>
        <p:nvSpPr>
          <p:cNvPr id="3" name="TextBox 2"/>
          <p:cNvSpPr txBox="1"/>
          <p:nvPr/>
        </p:nvSpPr>
        <p:spPr>
          <a:xfrm>
            <a:off x="812800" y="1168400"/>
            <a:ext cx="10566400" cy="1079500"/>
          </a:xfrm>
          <a:prstGeom prst="rect">
            <a:avLst/>
          </a:prstGeom>
          <a:noFill/>
        </p:spPr>
        <p:txBody>
          <a:bodyPr wrap="square" lIns="0" rIns="0" tIns="0" bIns="0" anchor="t">
            <a:spAutoFit/>
          </a:bodyPr>
          <a:lstStyle/>
          <a:p>
            <a:pPr algn="l">
              <a:lnSpc>
                <a:spcPct val="105000"/>
              </a:lnSpc>
            </a:pPr>
            <a:r>
              <a:rPr sz="3600" b="0">
                <a:solidFill>
                  <a:srgbClr val="FBF6EE"/>
                </a:solidFill>
                <a:latin typeface="Segoe UI Semibold"/>
              </a:rPr>
              <a:t>Chaque enfant n'accède qu'à son propre monde</a:t>
            </a:r>
          </a:p>
        </p:txBody>
      </p:sp>
      <p:sp>
        <p:nvSpPr>
          <p:cNvPr id="4" name="Rounded Rectangle 3"/>
          <p:cNvSpPr/>
          <p:nvPr/>
        </p:nvSpPr>
        <p:spPr>
          <a:xfrm>
            <a:off x="812800" y="2476500"/>
            <a:ext cx="5156200" cy="2730500"/>
          </a:xfrm>
          <a:prstGeom prst="roundRect">
            <a:avLst>
              <a:gd name="adj" fmla="val 6511"/>
            </a:avLst>
          </a:prstGeom>
          <a:solidFill>
            <a:srgbClr val="2026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2200" y="2755900"/>
            <a:ext cx="4597400" cy="381000"/>
          </a:xfrm>
          <a:prstGeom prst="rect">
            <a:avLst/>
          </a:prstGeom>
          <a:noFill/>
        </p:spPr>
        <p:txBody>
          <a:bodyPr wrap="square" lIns="0" rIns="0" tIns="0" bIns="0" anchor="t">
            <a:spAutoFit/>
          </a:bodyPr>
          <a:lstStyle/>
          <a:p>
            <a:pPr algn="l">
              <a:lnSpc>
                <a:spcPct val="115000"/>
              </a:lnSpc>
            </a:pPr>
            <a:r>
              <a:rPr sz="2200" b="0">
                <a:solidFill>
                  <a:srgbClr val="F2A93B"/>
                </a:solidFill>
                <a:latin typeface="Segoe UI Semibold"/>
              </a:rPr>
              <a:t>👨‍👩‍👧 Espace parents</a:t>
            </a:r>
          </a:p>
        </p:txBody>
      </p:sp>
      <p:sp>
        <p:nvSpPr>
          <p:cNvPr id="6" name="TextBox 5"/>
          <p:cNvSpPr txBox="1"/>
          <p:nvPr/>
        </p:nvSpPr>
        <p:spPr>
          <a:xfrm>
            <a:off x="1092200" y="3302000"/>
            <a:ext cx="4597400" cy="2159000"/>
          </a:xfrm>
          <a:prstGeom prst="rect">
            <a:avLst/>
          </a:prstGeom>
          <a:noFill/>
        </p:spPr>
        <p:txBody>
          <a:bodyPr wrap="square" lIns="0" rIns="0" tIns="0" bIns="0" anchor="t">
            <a:spAutoFit/>
          </a:bodyPr>
          <a:lstStyle/>
          <a:p>
            <a:pPr algn="l">
              <a:lnSpc>
                <a:spcPct val="140000"/>
              </a:lnSpc>
            </a:pPr>
            <a:r>
              <a:rPr sz="1500" b="0">
                <a:solidFill>
                  <a:srgbClr val="C9CCE8"/>
                </a:solidFill>
                <a:latin typeface="Segoe UI"/>
              </a:rPr>
              <a:t>•  Mot de passe redemandé pour tout contenu parent</a:t>
            </a:r>
          </a:p>
          <a:p>
            <a:pPr algn="l">
              <a:lnSpc>
                <a:spcPct val="140000"/>
              </a:lnSpc>
            </a:pPr>
            <a:r>
              <a:rPr sz="1500" b="0">
                <a:solidFill>
                  <a:srgbClr val="C9CCE8"/>
                </a:solidFill>
                <a:latin typeface="Segoe UI"/>
              </a:rPr>
              <a:t>•  Progrès, conversations, modification, suppression</a:t>
            </a:r>
          </a:p>
          <a:p>
            <a:pPr algn="l">
              <a:lnSpc>
                <a:spcPct val="140000"/>
              </a:lnSpc>
            </a:pPr>
            <a:r>
              <a:rPr sz="1500" b="0">
                <a:solidFill>
                  <a:srgbClr val="C9CCE8"/>
                </a:solidFill>
                <a:latin typeface="Segoe UI"/>
              </a:rPr>
              <a:t>•  Code secret récupérable, avec le mot de passe</a:t>
            </a:r>
          </a:p>
        </p:txBody>
      </p:sp>
      <p:sp>
        <p:nvSpPr>
          <p:cNvPr id="7" name="Rounded Rectangle 6"/>
          <p:cNvSpPr/>
          <p:nvPr/>
        </p:nvSpPr>
        <p:spPr>
          <a:xfrm>
            <a:off x="6223000" y="2476500"/>
            <a:ext cx="5156200" cy="2730500"/>
          </a:xfrm>
          <a:prstGeom prst="roundRect">
            <a:avLst>
              <a:gd name="adj" fmla="val 6511"/>
            </a:avLst>
          </a:prstGeom>
          <a:solidFill>
            <a:srgbClr val="2026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02400" y="2755900"/>
            <a:ext cx="4597400" cy="381000"/>
          </a:xfrm>
          <a:prstGeom prst="rect">
            <a:avLst/>
          </a:prstGeom>
          <a:noFill/>
        </p:spPr>
        <p:txBody>
          <a:bodyPr wrap="square" lIns="0" rIns="0" tIns="0" bIns="0" anchor="t">
            <a:spAutoFit/>
          </a:bodyPr>
          <a:lstStyle/>
          <a:p>
            <a:pPr algn="l">
              <a:lnSpc>
                <a:spcPct val="115000"/>
              </a:lnSpc>
            </a:pPr>
            <a:r>
              <a:rPr sz="2200" b="0">
                <a:solidFill>
                  <a:srgbClr val="F2A93B"/>
                </a:solidFill>
                <a:latin typeface="Segoe UI Semibold"/>
              </a:rPr>
              <a:t>🔐 Code secret en images</a:t>
            </a:r>
          </a:p>
        </p:txBody>
      </p:sp>
      <p:sp>
        <p:nvSpPr>
          <p:cNvPr id="9" name="TextBox 8"/>
          <p:cNvSpPr txBox="1"/>
          <p:nvPr/>
        </p:nvSpPr>
        <p:spPr>
          <a:xfrm>
            <a:off x="6502400" y="3238500"/>
            <a:ext cx="4597400" cy="571500"/>
          </a:xfrm>
          <a:prstGeom prst="rect">
            <a:avLst/>
          </a:prstGeom>
          <a:noFill/>
        </p:spPr>
        <p:txBody>
          <a:bodyPr wrap="square" lIns="0" rIns="0" tIns="0" bIns="0" anchor="t">
            <a:spAutoFit/>
          </a:bodyPr>
          <a:lstStyle/>
          <a:p>
            <a:pPr algn="l">
              <a:lnSpc>
                <a:spcPct val="115000"/>
              </a:lnSpc>
            </a:pPr>
            <a:r>
              <a:rPr sz="2800" b="0">
                <a:solidFill>
                  <a:srgbClr val="FBF6EE"/>
                </a:solidFill>
                <a:latin typeface="Segoe UI Emoji"/>
              </a:rPr>
              <a:t>🐱 → ⭐ → 🚀 → 🦖</a:t>
            </a:r>
          </a:p>
        </p:txBody>
      </p:sp>
      <p:sp>
        <p:nvSpPr>
          <p:cNvPr id="10" name="TextBox 9"/>
          <p:cNvSpPr txBox="1"/>
          <p:nvPr/>
        </p:nvSpPr>
        <p:spPr>
          <a:xfrm>
            <a:off x="6502400" y="3937000"/>
            <a:ext cx="4597400" cy="1651000"/>
          </a:xfrm>
          <a:prstGeom prst="rect">
            <a:avLst/>
          </a:prstGeom>
          <a:noFill/>
        </p:spPr>
        <p:txBody>
          <a:bodyPr wrap="square" lIns="0" rIns="0" tIns="0" bIns="0" anchor="t">
            <a:spAutoFit/>
          </a:bodyPr>
          <a:lstStyle/>
          <a:p>
            <a:pPr algn="l">
              <a:lnSpc>
                <a:spcPct val="140000"/>
              </a:lnSpc>
            </a:pPr>
            <a:r>
              <a:rPr sz="1500" b="0">
                <a:solidFill>
                  <a:srgbClr val="C9CCE8"/>
                </a:solidFill>
                <a:latin typeface="Segoe UI"/>
              </a:rPr>
              <a:t>•  Un mini-jeu, pas un mot de passe</a:t>
            </a:r>
          </a:p>
          <a:p>
            <a:pPr algn="l">
              <a:lnSpc>
                <a:spcPct val="140000"/>
              </a:lnSpc>
            </a:pPr>
            <a:r>
              <a:rPr sz="1500" b="0">
                <a:solidFill>
                  <a:srgbClr val="C9CCE8"/>
                </a:solidFill>
                <a:latin typeface="Segoe UI"/>
              </a:rPr>
              <a:t>•  Vérifié côté serveur, pause après 5 erreurs</a:t>
            </a:r>
          </a:p>
          <a:p>
            <a:pPr algn="l">
              <a:lnSpc>
                <a:spcPct val="140000"/>
              </a:lnSpc>
            </a:pPr>
            <a:r>
              <a:rPr sz="1500" b="0">
                <a:solidFill>
                  <a:srgbClr val="C9CCE8"/>
                </a:solidFill>
                <a:latin typeface="Segoe UI"/>
              </a:rPr>
              <a:t>•  L'enfant A ne voit jamais les données de B</a:t>
            </a:r>
          </a:p>
        </p:txBody>
      </p:sp>
      <p:sp>
        <p:nvSpPr>
          <p:cNvPr id="11" name="TextBox 10"/>
          <p:cNvSpPr txBox="1"/>
          <p:nvPr/>
        </p:nvSpPr>
        <p:spPr>
          <a:xfrm>
            <a:off x="812800" y="6350000"/>
            <a:ext cx="7620000" cy="215900"/>
          </a:xfrm>
          <a:prstGeom prst="rect">
            <a:avLst/>
          </a:prstGeom>
          <a:noFill/>
        </p:spPr>
        <p:txBody>
          <a:bodyPr wrap="square" lIns="0" rIns="0" tIns="0" bIns="0" anchor="t">
            <a:spAutoFit/>
          </a:bodyPr>
          <a:lstStyle/>
          <a:p>
            <a:pPr algn="l">
              <a:lnSpc>
                <a:spcPct val="115000"/>
              </a:lnSpc>
            </a:pPr>
            <a:r>
              <a:rPr sz="1200" b="0">
                <a:solidFill>
                  <a:srgbClr val="7E82A8"/>
                </a:solidFill>
                <a:latin typeface="Segoe UI"/>
              </a:rPr>
              <a:t>MyRugy Kids · Hackathon</a:t>
            </a:r>
          </a:p>
        </p:txBody>
      </p:sp>
      <p:sp>
        <p:nvSpPr>
          <p:cNvPr id="12" name="TextBox 11"/>
          <p:cNvSpPr txBox="1"/>
          <p:nvPr/>
        </p:nvSpPr>
        <p:spPr>
          <a:xfrm>
            <a:off x="10109200" y="6350000"/>
            <a:ext cx="1270000" cy="215900"/>
          </a:xfrm>
          <a:prstGeom prst="rect">
            <a:avLst/>
          </a:prstGeom>
          <a:noFill/>
        </p:spPr>
        <p:txBody>
          <a:bodyPr wrap="square" lIns="0" rIns="0" tIns="0" bIns="0" anchor="t">
            <a:spAutoFit/>
          </a:bodyPr>
          <a:lstStyle/>
          <a:p>
            <a:pPr algn="r">
              <a:lnSpc>
                <a:spcPct val="115000"/>
              </a:lnSpc>
            </a:pPr>
            <a:r>
              <a:rPr sz="1200" b="0">
                <a:solidFill>
                  <a:srgbClr val="7E82A8"/>
                </a:solidFill>
                <a:latin typeface="Segoe U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6EE"/>
        </a:solidFill>
        <a:effectLst/>
      </p:bgPr>
    </p:bg>
    <p:spTree>
      <p:nvGrpSpPr>
        <p:cNvPr id="1" name=""/>
        <p:cNvGrpSpPr/>
        <p:nvPr/>
      </p:nvGrpSpPr>
      <p:grpSpPr/>
      <p:sp>
        <p:nvSpPr>
          <p:cNvPr id="2" name="TextBox 1"/>
          <p:cNvSpPr txBox="1"/>
          <p:nvPr/>
        </p:nvSpPr>
        <p:spPr>
          <a:xfrm>
            <a:off x="812800" y="812800"/>
            <a:ext cx="10566400" cy="254000"/>
          </a:xfrm>
          <a:prstGeom prst="rect">
            <a:avLst/>
          </a:prstGeom>
          <a:noFill/>
        </p:spPr>
        <p:txBody>
          <a:bodyPr wrap="square" lIns="0" rIns="0" tIns="0" bIns="0" anchor="t">
            <a:spAutoFit/>
          </a:bodyPr>
          <a:lstStyle/>
          <a:p>
            <a:pPr algn="l">
              <a:lnSpc>
                <a:spcPct val="115000"/>
              </a:lnSpc>
            </a:pPr>
            <a:r>
              <a:rPr sz="1400" b="1">
                <a:solidFill>
                  <a:srgbClr val="3D4FD6"/>
                </a:solidFill>
                <a:latin typeface="Segoe UI"/>
              </a:rPr>
              <a:t>ARCHITECTURE</a:t>
            </a:r>
          </a:p>
        </p:txBody>
      </p:sp>
      <p:sp>
        <p:nvSpPr>
          <p:cNvPr id="3" name="TextBox 2"/>
          <p:cNvSpPr txBox="1"/>
          <p:nvPr/>
        </p:nvSpPr>
        <p:spPr>
          <a:xfrm>
            <a:off x="812800" y="1168400"/>
            <a:ext cx="10566400" cy="1079500"/>
          </a:xfrm>
          <a:prstGeom prst="rect">
            <a:avLst/>
          </a:prstGeom>
          <a:noFill/>
        </p:spPr>
        <p:txBody>
          <a:bodyPr wrap="square" lIns="0" rIns="0" tIns="0" bIns="0" anchor="t">
            <a:spAutoFit/>
          </a:bodyPr>
          <a:lstStyle/>
          <a:p>
            <a:pPr algn="l">
              <a:lnSpc>
                <a:spcPct val="105000"/>
              </a:lnSpc>
            </a:pPr>
            <a:r>
              <a:rPr sz="3600" b="0">
                <a:solidFill>
                  <a:srgbClr val="1E2140"/>
                </a:solidFill>
                <a:latin typeface="Segoe UI Semibold"/>
              </a:rPr>
              <a:t>Simple, sécurisée, déployée en un conteneur</a:t>
            </a:r>
          </a:p>
        </p:txBody>
      </p:sp>
      <p:sp>
        <p:nvSpPr>
          <p:cNvPr id="4" name="Rounded Rectangle 3"/>
          <p:cNvSpPr/>
          <p:nvPr/>
        </p:nvSpPr>
        <p:spPr>
          <a:xfrm>
            <a:off x="812800" y="2476500"/>
            <a:ext cx="2279650" cy="2286000"/>
          </a:xfrm>
          <a:prstGeom prst="roundRect">
            <a:avLst>
              <a:gd name="adj" fmla="val 6685"/>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90600" y="2654300"/>
            <a:ext cx="1924050" cy="317500"/>
          </a:xfrm>
          <a:prstGeom prst="rect">
            <a:avLst/>
          </a:prstGeom>
          <a:noFill/>
        </p:spPr>
        <p:txBody>
          <a:bodyPr wrap="square" lIns="0" rIns="0" tIns="0" bIns="0" anchor="t">
            <a:spAutoFit/>
          </a:bodyPr>
          <a:lstStyle/>
          <a:p>
            <a:pPr algn="l">
              <a:lnSpc>
                <a:spcPct val="115000"/>
              </a:lnSpc>
            </a:pPr>
            <a:r>
              <a:rPr sz="1700" b="0">
                <a:solidFill>
                  <a:srgbClr val="1E2140"/>
                </a:solidFill>
                <a:latin typeface="Segoe UI Semibold"/>
              </a:rPr>
              <a:t>🖥️ Frontend</a:t>
            </a:r>
          </a:p>
        </p:txBody>
      </p:sp>
      <p:sp>
        <p:nvSpPr>
          <p:cNvPr id="6" name="TextBox 5"/>
          <p:cNvSpPr txBox="1"/>
          <p:nvPr/>
        </p:nvSpPr>
        <p:spPr>
          <a:xfrm>
            <a:off x="990600" y="3111500"/>
            <a:ext cx="1924050" cy="1524000"/>
          </a:xfrm>
          <a:prstGeom prst="rect">
            <a:avLst/>
          </a:prstGeom>
          <a:noFill/>
        </p:spPr>
        <p:txBody>
          <a:bodyPr wrap="square" lIns="0" rIns="0" tIns="0" bIns="0" anchor="t">
            <a:spAutoFit/>
          </a:bodyPr>
          <a:lstStyle/>
          <a:p>
            <a:pPr algn="l">
              <a:lnSpc>
                <a:spcPct val="135000"/>
              </a:lnSpc>
            </a:pPr>
            <a:r>
              <a:rPr sz="1300" b="0">
                <a:solidFill>
                  <a:srgbClr val="4A4868"/>
                </a:solidFill>
                <a:latin typeface="Segoe UI"/>
              </a:rPr>
              <a:t>•  React + TypeScript + Vite</a:t>
            </a:r>
          </a:p>
          <a:p>
            <a:pPr algn="l">
              <a:lnSpc>
                <a:spcPct val="135000"/>
              </a:lnSpc>
            </a:pPr>
            <a:r>
              <a:rPr sz="1300" b="0">
                <a:solidFill>
                  <a:srgbClr val="4A4868"/>
                </a:solidFill>
                <a:latin typeface="Segoe UI"/>
              </a:rPr>
              <a:t>•  three.js pour le compagnon 3D</a:t>
            </a:r>
          </a:p>
          <a:p>
            <a:pPr algn="l">
              <a:lnSpc>
                <a:spcPct val="135000"/>
              </a:lnSpc>
            </a:pPr>
            <a:r>
              <a:rPr sz="1300" b="0">
                <a:solidFill>
                  <a:srgbClr val="4A4868"/>
                </a:solidFill>
                <a:latin typeface="Segoe UI"/>
              </a:rPr>
              <a:t>•  Micro et voix du navigateur</a:t>
            </a:r>
          </a:p>
        </p:txBody>
      </p:sp>
      <p:sp>
        <p:nvSpPr>
          <p:cNvPr id="7" name="Right Arrow 6"/>
          <p:cNvSpPr/>
          <p:nvPr/>
        </p:nvSpPr>
        <p:spPr>
          <a:xfrm>
            <a:off x="3181350" y="3530600"/>
            <a:ext cx="304800" cy="177800"/>
          </a:xfrm>
          <a:prstGeom prst="rightArrow">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575050" y="2476500"/>
            <a:ext cx="2279650" cy="2286000"/>
          </a:xfrm>
          <a:prstGeom prst="roundRect">
            <a:avLst>
              <a:gd name="adj" fmla="val 6685"/>
            </a:avLst>
          </a:prstGeom>
          <a:solidFill>
            <a:srgbClr val="E9ECFF"/>
          </a:solidFill>
          <a:ln w="12700">
            <a:solidFill>
              <a:srgbClr val="3D4F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52850" y="2654300"/>
            <a:ext cx="1924050" cy="317500"/>
          </a:xfrm>
          <a:prstGeom prst="rect">
            <a:avLst/>
          </a:prstGeom>
          <a:noFill/>
        </p:spPr>
        <p:txBody>
          <a:bodyPr wrap="square" lIns="0" rIns="0" tIns="0" bIns="0" anchor="t">
            <a:spAutoFit/>
          </a:bodyPr>
          <a:lstStyle/>
          <a:p>
            <a:pPr algn="l">
              <a:lnSpc>
                <a:spcPct val="115000"/>
              </a:lnSpc>
            </a:pPr>
            <a:r>
              <a:rPr sz="1700" b="0">
                <a:solidFill>
                  <a:srgbClr val="1E2140"/>
                </a:solidFill>
                <a:latin typeface="Segoe UI Semibold"/>
              </a:rPr>
              <a:t>⚙️ API Flask</a:t>
            </a:r>
          </a:p>
        </p:txBody>
      </p:sp>
      <p:sp>
        <p:nvSpPr>
          <p:cNvPr id="10" name="TextBox 9"/>
          <p:cNvSpPr txBox="1"/>
          <p:nvPr/>
        </p:nvSpPr>
        <p:spPr>
          <a:xfrm>
            <a:off x="3752850" y="3111500"/>
            <a:ext cx="1924050" cy="1524000"/>
          </a:xfrm>
          <a:prstGeom prst="rect">
            <a:avLst/>
          </a:prstGeom>
          <a:noFill/>
        </p:spPr>
        <p:txBody>
          <a:bodyPr wrap="square" lIns="0" rIns="0" tIns="0" bIns="0" anchor="t">
            <a:spAutoFit/>
          </a:bodyPr>
          <a:lstStyle/>
          <a:p>
            <a:pPr algn="l">
              <a:lnSpc>
                <a:spcPct val="135000"/>
              </a:lnSpc>
            </a:pPr>
            <a:r>
              <a:rPr sz="1300" b="0">
                <a:solidFill>
                  <a:srgbClr val="4A4868"/>
                </a:solidFill>
                <a:latin typeface="Segoe UI"/>
              </a:rPr>
              <a:t>•  JWT en cookie httpOnly</a:t>
            </a:r>
          </a:p>
          <a:p>
            <a:pPr algn="l">
              <a:lnSpc>
                <a:spcPct val="135000"/>
              </a:lnSpc>
            </a:pPr>
            <a:r>
              <a:rPr sz="1300" b="0">
                <a:solidFill>
                  <a:srgbClr val="4A4868"/>
                </a:solidFill>
                <a:latin typeface="Segoe UI"/>
              </a:rPr>
              <a:t>•  Mode parent, pass enfant</a:t>
            </a:r>
          </a:p>
          <a:p>
            <a:pPr algn="l">
              <a:lnSpc>
                <a:spcPct val="135000"/>
              </a:lnSpc>
            </a:pPr>
            <a:r>
              <a:rPr sz="1300" b="0">
                <a:solidFill>
                  <a:srgbClr val="4A4868"/>
                </a:solidFill>
                <a:latin typeface="Segoe UI"/>
              </a:rPr>
              <a:t>•  Garde-fous et limites de débit</a:t>
            </a:r>
          </a:p>
        </p:txBody>
      </p:sp>
      <p:sp>
        <p:nvSpPr>
          <p:cNvPr id="11" name="Right Arrow 10"/>
          <p:cNvSpPr/>
          <p:nvPr/>
        </p:nvSpPr>
        <p:spPr>
          <a:xfrm>
            <a:off x="5943600" y="3530600"/>
            <a:ext cx="304800" cy="177800"/>
          </a:xfrm>
          <a:prstGeom prst="rightArrow">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37300" y="2476500"/>
            <a:ext cx="2279650" cy="2286000"/>
          </a:xfrm>
          <a:prstGeom prst="roundRect">
            <a:avLst>
              <a:gd name="adj" fmla="val 6685"/>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5100" y="2654300"/>
            <a:ext cx="1924050" cy="317500"/>
          </a:xfrm>
          <a:prstGeom prst="rect">
            <a:avLst/>
          </a:prstGeom>
          <a:noFill/>
        </p:spPr>
        <p:txBody>
          <a:bodyPr wrap="square" lIns="0" rIns="0" tIns="0" bIns="0" anchor="t">
            <a:spAutoFit/>
          </a:bodyPr>
          <a:lstStyle/>
          <a:p>
            <a:pPr algn="l">
              <a:lnSpc>
                <a:spcPct val="115000"/>
              </a:lnSpc>
            </a:pPr>
            <a:r>
              <a:rPr sz="1700" b="0">
                <a:solidFill>
                  <a:srgbClr val="1E2140"/>
                </a:solidFill>
                <a:latin typeface="Segoe UI Semibold"/>
              </a:rPr>
              <a:t>🗄️ Supabase</a:t>
            </a:r>
          </a:p>
        </p:txBody>
      </p:sp>
      <p:sp>
        <p:nvSpPr>
          <p:cNvPr id="14" name="TextBox 13"/>
          <p:cNvSpPr txBox="1"/>
          <p:nvPr/>
        </p:nvSpPr>
        <p:spPr>
          <a:xfrm>
            <a:off x="6515100" y="3111500"/>
            <a:ext cx="1924050" cy="1524000"/>
          </a:xfrm>
          <a:prstGeom prst="rect">
            <a:avLst/>
          </a:prstGeom>
          <a:noFill/>
        </p:spPr>
        <p:txBody>
          <a:bodyPr wrap="square" lIns="0" rIns="0" tIns="0" bIns="0" anchor="t">
            <a:spAutoFit/>
          </a:bodyPr>
          <a:lstStyle/>
          <a:p>
            <a:pPr algn="l">
              <a:lnSpc>
                <a:spcPct val="135000"/>
              </a:lnSpc>
            </a:pPr>
            <a:r>
              <a:rPr sz="1300" b="0">
                <a:solidFill>
                  <a:srgbClr val="4A4868"/>
                </a:solidFill>
                <a:latin typeface="Segoe UI"/>
              </a:rPr>
              <a:t>•  PostgreSQL</a:t>
            </a:r>
          </a:p>
          <a:p>
            <a:pPr algn="l">
              <a:lnSpc>
                <a:spcPct val="135000"/>
              </a:lnSpc>
            </a:pPr>
            <a:r>
              <a:rPr sz="1300" b="0">
                <a:solidFill>
                  <a:srgbClr val="4A4868"/>
                </a:solidFill>
                <a:latin typeface="Segoe UI"/>
              </a:rPr>
              <a:t>•  RLS : aucun accès direct</a:t>
            </a:r>
          </a:p>
          <a:p>
            <a:pPr algn="l">
              <a:lnSpc>
                <a:spcPct val="135000"/>
              </a:lnSpc>
            </a:pPr>
            <a:r>
              <a:rPr sz="1300" b="0">
                <a:solidFill>
                  <a:srgbClr val="4A4868"/>
                </a:solidFill>
                <a:latin typeface="Segoe UI"/>
              </a:rPr>
              <a:t>•  Code secret haché + chiffré</a:t>
            </a:r>
          </a:p>
        </p:txBody>
      </p:sp>
      <p:sp>
        <p:nvSpPr>
          <p:cNvPr id="15" name="Right Arrow 14"/>
          <p:cNvSpPr/>
          <p:nvPr/>
        </p:nvSpPr>
        <p:spPr>
          <a:xfrm>
            <a:off x="8705850" y="3530600"/>
            <a:ext cx="304800" cy="177800"/>
          </a:xfrm>
          <a:prstGeom prst="rightArrow">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99550" y="2476500"/>
            <a:ext cx="2279650" cy="2286000"/>
          </a:xfrm>
          <a:prstGeom prst="roundRect">
            <a:avLst>
              <a:gd name="adj" fmla="val 6685"/>
            </a:avLst>
          </a:prstGeom>
          <a:solidFill>
            <a:srgbClr val="FFF4DE"/>
          </a:solidFill>
          <a:ln w="12700">
            <a:solidFill>
              <a:srgbClr val="F2A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77350" y="2654300"/>
            <a:ext cx="1924050" cy="317500"/>
          </a:xfrm>
          <a:prstGeom prst="rect">
            <a:avLst/>
          </a:prstGeom>
          <a:noFill/>
        </p:spPr>
        <p:txBody>
          <a:bodyPr wrap="square" lIns="0" rIns="0" tIns="0" bIns="0" anchor="t">
            <a:spAutoFit/>
          </a:bodyPr>
          <a:lstStyle/>
          <a:p>
            <a:pPr algn="l">
              <a:lnSpc>
                <a:spcPct val="115000"/>
              </a:lnSpc>
            </a:pPr>
            <a:r>
              <a:rPr sz="1700" b="0">
                <a:solidFill>
                  <a:srgbClr val="1E2140"/>
                </a:solidFill>
                <a:latin typeface="Segoe UI Semibold"/>
              </a:rPr>
              <a:t>✨ Google Gemini</a:t>
            </a:r>
          </a:p>
        </p:txBody>
      </p:sp>
      <p:sp>
        <p:nvSpPr>
          <p:cNvPr id="18" name="TextBox 17"/>
          <p:cNvSpPr txBox="1"/>
          <p:nvPr/>
        </p:nvSpPr>
        <p:spPr>
          <a:xfrm>
            <a:off x="9277350" y="3111500"/>
            <a:ext cx="1924050" cy="1524000"/>
          </a:xfrm>
          <a:prstGeom prst="rect">
            <a:avLst/>
          </a:prstGeom>
          <a:noFill/>
        </p:spPr>
        <p:txBody>
          <a:bodyPr wrap="square" lIns="0" rIns="0" tIns="0" bIns="0" anchor="t">
            <a:spAutoFit/>
          </a:bodyPr>
          <a:lstStyle/>
          <a:p>
            <a:pPr algn="l">
              <a:lnSpc>
                <a:spcPct val="135000"/>
              </a:lnSpc>
            </a:pPr>
            <a:r>
              <a:rPr sz="1300" b="0">
                <a:solidFill>
                  <a:srgbClr val="4A4868"/>
                </a:solidFill>
                <a:latin typeface="Segoe UI"/>
              </a:rPr>
              <a:t>•  3.6 Flash pour le texte</a:t>
            </a:r>
          </a:p>
          <a:p>
            <a:pPr algn="l">
              <a:lnSpc>
                <a:spcPct val="135000"/>
              </a:lnSpc>
            </a:pPr>
            <a:r>
              <a:rPr sz="1300" b="0">
                <a:solidFill>
                  <a:srgbClr val="4A4868"/>
                </a:solidFill>
                <a:latin typeface="Segoe UI"/>
              </a:rPr>
              <a:t>•  3.8 Flash Lite TTS pour la voix</a:t>
            </a:r>
          </a:p>
          <a:p>
            <a:pPr algn="l">
              <a:lnSpc>
                <a:spcPct val="135000"/>
              </a:lnSpc>
            </a:pPr>
            <a:r>
              <a:rPr sz="1300" b="0">
                <a:solidFill>
                  <a:srgbClr val="4A4868"/>
                </a:solidFill>
                <a:latin typeface="Segoe UI"/>
              </a:rPr>
              <a:t>•  Clé côté serveur, bascule auto</a:t>
            </a:r>
          </a:p>
        </p:txBody>
      </p:sp>
      <p:sp>
        <p:nvSpPr>
          <p:cNvPr id="19" name="TextBox 18"/>
          <p:cNvSpPr txBox="1"/>
          <p:nvPr/>
        </p:nvSpPr>
        <p:spPr>
          <a:xfrm>
            <a:off x="812800" y="5080000"/>
            <a:ext cx="10566400" cy="317500"/>
          </a:xfrm>
          <a:prstGeom prst="rect">
            <a:avLst/>
          </a:prstGeom>
          <a:noFill/>
        </p:spPr>
        <p:txBody>
          <a:bodyPr wrap="square" lIns="0" rIns="0" tIns="0" bIns="0" anchor="t">
            <a:spAutoFit/>
          </a:bodyPr>
          <a:lstStyle/>
          <a:p>
            <a:pPr algn="l">
              <a:lnSpc>
                <a:spcPct val="115000"/>
              </a:lnSpc>
            </a:pPr>
            <a:r>
              <a:rPr sz="1500" b="1">
                <a:solidFill>
                  <a:srgbClr val="4A4868"/>
                </a:solidFill>
                <a:latin typeface="Segoe UI"/>
              </a:rPr>
              <a:t>🚀 Déploiement : Docker sur Railway   ·   🧪 41 tests automatisés côté API</a:t>
            </a:r>
          </a:p>
        </p:txBody>
      </p:sp>
      <p:sp>
        <p:nvSpPr>
          <p:cNvPr id="20" name="TextBox 19"/>
          <p:cNvSpPr txBox="1"/>
          <p:nvPr/>
        </p:nvSpPr>
        <p:spPr>
          <a:xfrm>
            <a:off x="812800" y="6350000"/>
            <a:ext cx="7620000" cy="215900"/>
          </a:xfrm>
          <a:prstGeom prst="rect">
            <a:avLst/>
          </a:prstGeom>
          <a:noFill/>
        </p:spPr>
        <p:txBody>
          <a:bodyPr wrap="square" lIns="0" rIns="0" tIns="0" bIns="0" anchor="t">
            <a:spAutoFit/>
          </a:bodyPr>
          <a:lstStyle/>
          <a:p>
            <a:pPr algn="l">
              <a:lnSpc>
                <a:spcPct val="115000"/>
              </a:lnSpc>
            </a:pPr>
            <a:r>
              <a:rPr sz="1200" b="0">
                <a:solidFill>
                  <a:srgbClr val="8A8499"/>
                </a:solidFill>
                <a:latin typeface="Segoe UI"/>
              </a:rPr>
              <a:t>MyRugy Kids · Hackathon</a:t>
            </a:r>
          </a:p>
        </p:txBody>
      </p:sp>
      <p:sp>
        <p:nvSpPr>
          <p:cNvPr id="21" name="TextBox 20"/>
          <p:cNvSpPr txBox="1"/>
          <p:nvPr/>
        </p:nvSpPr>
        <p:spPr>
          <a:xfrm>
            <a:off x="10109200" y="6350000"/>
            <a:ext cx="1270000" cy="215900"/>
          </a:xfrm>
          <a:prstGeom prst="rect">
            <a:avLst/>
          </a:prstGeom>
          <a:noFill/>
        </p:spPr>
        <p:txBody>
          <a:bodyPr wrap="square" lIns="0" rIns="0" tIns="0" bIns="0" anchor="t">
            <a:spAutoFit/>
          </a:bodyPr>
          <a:lstStyle/>
          <a:p>
            <a:pPr algn="r">
              <a:lnSpc>
                <a:spcPct val="115000"/>
              </a:lnSpc>
            </a:pPr>
            <a:r>
              <a:rPr sz="1200" b="0">
                <a:solidFill>
                  <a:srgbClr val="8A8499"/>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5193A"/>
        </a:solidFill>
        <a:effectLst/>
      </p:bgPr>
    </p:bg>
    <p:spTree>
      <p:nvGrpSpPr>
        <p:cNvPr id="1" name=""/>
        <p:cNvGrpSpPr/>
        <p:nvPr/>
      </p:nvGrpSpPr>
      <p:grpSpPr/>
      <p:sp>
        <p:nvSpPr>
          <p:cNvPr id="2" name="TextBox 1"/>
          <p:cNvSpPr txBox="1"/>
          <p:nvPr/>
        </p:nvSpPr>
        <p:spPr>
          <a:xfrm>
            <a:off x="812800" y="812800"/>
            <a:ext cx="10566400" cy="254000"/>
          </a:xfrm>
          <a:prstGeom prst="rect">
            <a:avLst/>
          </a:prstGeom>
          <a:noFill/>
        </p:spPr>
        <p:txBody>
          <a:bodyPr wrap="square" lIns="0" rIns="0" tIns="0" bIns="0" anchor="t">
            <a:spAutoFit/>
          </a:bodyPr>
          <a:lstStyle/>
          <a:p>
            <a:pPr algn="l">
              <a:lnSpc>
                <a:spcPct val="115000"/>
              </a:lnSpc>
            </a:pPr>
            <a:r>
              <a:rPr sz="1400" b="1">
                <a:solidFill>
                  <a:srgbClr val="F2A93B"/>
                </a:solidFill>
                <a:latin typeface="Segoe UI"/>
              </a:rPr>
              <a:t>CE QUE NOUS AVONS CONSTRUIT</a:t>
            </a:r>
          </a:p>
        </p:txBody>
      </p:sp>
      <p:sp>
        <p:nvSpPr>
          <p:cNvPr id="3" name="TextBox 2"/>
          <p:cNvSpPr txBox="1"/>
          <p:nvPr/>
        </p:nvSpPr>
        <p:spPr>
          <a:xfrm>
            <a:off x="812800" y="1168400"/>
            <a:ext cx="10566400" cy="1079500"/>
          </a:xfrm>
          <a:prstGeom prst="rect">
            <a:avLst/>
          </a:prstGeom>
          <a:noFill/>
        </p:spPr>
        <p:txBody>
          <a:bodyPr wrap="square" lIns="0" rIns="0" tIns="0" bIns="0" anchor="t">
            <a:spAutoFit/>
          </a:bodyPr>
          <a:lstStyle/>
          <a:p>
            <a:pPr algn="l">
              <a:lnSpc>
                <a:spcPct val="105000"/>
              </a:lnSpc>
            </a:pPr>
            <a:r>
              <a:rPr sz="3600" b="0">
                <a:solidFill>
                  <a:srgbClr val="FBF6EE"/>
                </a:solidFill>
                <a:latin typeface="Segoe UI Semibold"/>
              </a:rPr>
              <a:t>Un produit complet, pas une maquette</a:t>
            </a:r>
          </a:p>
        </p:txBody>
      </p:sp>
      <p:sp>
        <p:nvSpPr>
          <p:cNvPr id="4" name="Rounded Rectangle 3"/>
          <p:cNvSpPr/>
          <p:nvPr/>
        </p:nvSpPr>
        <p:spPr>
          <a:xfrm>
            <a:off x="812800" y="2413000"/>
            <a:ext cx="3403600" cy="1663700"/>
          </a:xfrm>
          <a:prstGeom prst="roundRect">
            <a:avLst>
              <a:gd name="adj" fmla="val 9160"/>
            </a:avLst>
          </a:prstGeom>
          <a:solidFill>
            <a:srgbClr val="2026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6800" y="2603500"/>
            <a:ext cx="2895600" cy="825500"/>
          </a:xfrm>
          <a:prstGeom prst="rect">
            <a:avLst/>
          </a:prstGeom>
          <a:noFill/>
        </p:spPr>
        <p:txBody>
          <a:bodyPr wrap="square" lIns="0" rIns="0" tIns="0" bIns="0" anchor="t">
            <a:spAutoFit/>
          </a:bodyPr>
          <a:lstStyle/>
          <a:p>
            <a:pPr algn="l">
              <a:lnSpc>
                <a:spcPct val="115000"/>
              </a:lnSpc>
            </a:pPr>
            <a:r>
              <a:rPr sz="5500" b="0">
                <a:solidFill>
                  <a:srgbClr val="F2A93B"/>
                </a:solidFill>
                <a:latin typeface="Segoe UI Semibold"/>
              </a:rPr>
              <a:t>8</a:t>
            </a:r>
          </a:p>
        </p:txBody>
      </p:sp>
      <p:sp>
        <p:nvSpPr>
          <p:cNvPr id="6" name="TextBox 5"/>
          <p:cNvSpPr txBox="1"/>
          <p:nvPr/>
        </p:nvSpPr>
        <p:spPr>
          <a:xfrm>
            <a:off x="1066800" y="3492500"/>
            <a:ext cx="2895600" cy="381000"/>
          </a:xfrm>
          <a:prstGeom prst="rect">
            <a:avLst/>
          </a:prstGeom>
          <a:noFill/>
        </p:spPr>
        <p:txBody>
          <a:bodyPr wrap="square" lIns="0" rIns="0" tIns="0" bIns="0" anchor="t">
            <a:spAutoFit/>
          </a:bodyPr>
          <a:lstStyle/>
          <a:p>
            <a:pPr algn="l">
              <a:lnSpc>
                <a:spcPct val="115000"/>
              </a:lnSpc>
            </a:pPr>
            <a:r>
              <a:rPr sz="1600" b="1">
                <a:solidFill>
                  <a:srgbClr val="C9CCE8"/>
                </a:solidFill>
                <a:latin typeface="Segoe UI"/>
              </a:rPr>
              <a:t>leçons vidéo + pratique</a:t>
            </a:r>
          </a:p>
        </p:txBody>
      </p:sp>
      <p:sp>
        <p:nvSpPr>
          <p:cNvPr id="7" name="Rounded Rectangle 6"/>
          <p:cNvSpPr/>
          <p:nvPr/>
        </p:nvSpPr>
        <p:spPr>
          <a:xfrm>
            <a:off x="4394200" y="2413000"/>
            <a:ext cx="3403600" cy="1663700"/>
          </a:xfrm>
          <a:prstGeom prst="roundRect">
            <a:avLst>
              <a:gd name="adj" fmla="val 9160"/>
            </a:avLst>
          </a:prstGeom>
          <a:solidFill>
            <a:srgbClr val="2026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48200" y="2603500"/>
            <a:ext cx="2895600" cy="825500"/>
          </a:xfrm>
          <a:prstGeom prst="rect">
            <a:avLst/>
          </a:prstGeom>
          <a:noFill/>
        </p:spPr>
        <p:txBody>
          <a:bodyPr wrap="square" lIns="0" rIns="0" tIns="0" bIns="0" anchor="t">
            <a:spAutoFit/>
          </a:bodyPr>
          <a:lstStyle/>
          <a:p>
            <a:pPr algn="l">
              <a:lnSpc>
                <a:spcPct val="115000"/>
              </a:lnSpc>
            </a:pPr>
            <a:r>
              <a:rPr sz="5500" b="0">
                <a:solidFill>
                  <a:srgbClr val="FBF6EE"/>
                </a:solidFill>
                <a:latin typeface="Segoe UI Semibold"/>
              </a:rPr>
              <a:t>6</a:t>
            </a:r>
          </a:p>
        </p:txBody>
      </p:sp>
      <p:sp>
        <p:nvSpPr>
          <p:cNvPr id="9" name="TextBox 8"/>
          <p:cNvSpPr txBox="1"/>
          <p:nvPr/>
        </p:nvSpPr>
        <p:spPr>
          <a:xfrm>
            <a:off x="4648200" y="3492500"/>
            <a:ext cx="2895600" cy="381000"/>
          </a:xfrm>
          <a:prstGeom prst="rect">
            <a:avLst/>
          </a:prstGeom>
          <a:noFill/>
        </p:spPr>
        <p:txBody>
          <a:bodyPr wrap="square" lIns="0" rIns="0" tIns="0" bIns="0" anchor="t">
            <a:spAutoFit/>
          </a:bodyPr>
          <a:lstStyle/>
          <a:p>
            <a:pPr algn="l">
              <a:lnSpc>
                <a:spcPct val="115000"/>
              </a:lnSpc>
            </a:pPr>
            <a:r>
              <a:rPr sz="1600" b="1">
                <a:solidFill>
                  <a:srgbClr val="C9CCE8"/>
                </a:solidFill>
                <a:latin typeface="Segoe UI"/>
              </a:rPr>
              <a:t>jeux éducatifs</a:t>
            </a:r>
          </a:p>
        </p:txBody>
      </p:sp>
      <p:sp>
        <p:nvSpPr>
          <p:cNvPr id="10" name="Rounded Rectangle 9"/>
          <p:cNvSpPr/>
          <p:nvPr/>
        </p:nvSpPr>
        <p:spPr>
          <a:xfrm>
            <a:off x="7975600" y="2413000"/>
            <a:ext cx="3403600" cy="1663700"/>
          </a:xfrm>
          <a:prstGeom prst="roundRect">
            <a:avLst>
              <a:gd name="adj" fmla="val 9160"/>
            </a:avLst>
          </a:prstGeom>
          <a:solidFill>
            <a:srgbClr val="2026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603500"/>
            <a:ext cx="2895600" cy="825500"/>
          </a:xfrm>
          <a:prstGeom prst="rect">
            <a:avLst/>
          </a:prstGeom>
          <a:noFill/>
        </p:spPr>
        <p:txBody>
          <a:bodyPr wrap="square" lIns="0" rIns="0" tIns="0" bIns="0" anchor="t">
            <a:spAutoFit/>
          </a:bodyPr>
          <a:lstStyle/>
          <a:p>
            <a:pPr algn="l">
              <a:lnSpc>
                <a:spcPct val="115000"/>
              </a:lnSpc>
            </a:pPr>
            <a:r>
              <a:rPr sz="5500" b="0">
                <a:solidFill>
                  <a:srgbClr val="F2A93B"/>
                </a:solidFill>
                <a:latin typeface="Segoe UI Semibold"/>
              </a:rPr>
              <a:t>12</a:t>
            </a:r>
          </a:p>
        </p:txBody>
      </p:sp>
      <p:sp>
        <p:nvSpPr>
          <p:cNvPr id="12" name="TextBox 11"/>
          <p:cNvSpPr txBox="1"/>
          <p:nvPr/>
        </p:nvSpPr>
        <p:spPr>
          <a:xfrm>
            <a:off x="8229600" y="3492500"/>
            <a:ext cx="2895600" cy="381000"/>
          </a:xfrm>
          <a:prstGeom prst="rect">
            <a:avLst/>
          </a:prstGeom>
          <a:noFill/>
        </p:spPr>
        <p:txBody>
          <a:bodyPr wrap="square" lIns="0" rIns="0" tIns="0" bIns="0" anchor="t">
            <a:spAutoFit/>
          </a:bodyPr>
          <a:lstStyle/>
          <a:p>
            <a:pPr algn="l">
              <a:lnSpc>
                <a:spcPct val="115000"/>
              </a:lnSpc>
            </a:pPr>
            <a:r>
              <a:rPr sz="1600" b="1">
                <a:solidFill>
                  <a:srgbClr val="C9CCE8"/>
                </a:solidFill>
                <a:latin typeface="Segoe UI"/>
              </a:rPr>
              <a:t>régions du Maroc</a:t>
            </a:r>
          </a:p>
        </p:txBody>
      </p:sp>
      <p:sp>
        <p:nvSpPr>
          <p:cNvPr id="13" name="Rounded Rectangle 12"/>
          <p:cNvSpPr/>
          <p:nvPr/>
        </p:nvSpPr>
        <p:spPr>
          <a:xfrm>
            <a:off x="812800" y="4229100"/>
            <a:ext cx="3403600" cy="1663700"/>
          </a:xfrm>
          <a:prstGeom prst="roundRect">
            <a:avLst>
              <a:gd name="adj" fmla="val 9160"/>
            </a:avLst>
          </a:prstGeom>
          <a:solidFill>
            <a:srgbClr val="2026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6800" y="4419600"/>
            <a:ext cx="2895600" cy="825500"/>
          </a:xfrm>
          <a:prstGeom prst="rect">
            <a:avLst/>
          </a:prstGeom>
          <a:noFill/>
        </p:spPr>
        <p:txBody>
          <a:bodyPr wrap="square" lIns="0" rIns="0" tIns="0" bIns="0" anchor="t">
            <a:spAutoFit/>
          </a:bodyPr>
          <a:lstStyle/>
          <a:p>
            <a:pPr algn="l">
              <a:lnSpc>
                <a:spcPct val="115000"/>
              </a:lnSpc>
            </a:pPr>
            <a:r>
              <a:rPr sz="5500" b="0">
                <a:solidFill>
                  <a:srgbClr val="FBF6EE"/>
                </a:solidFill>
                <a:latin typeface="Segoe UI Semibold"/>
              </a:rPr>
              <a:t>10</a:t>
            </a:r>
          </a:p>
        </p:txBody>
      </p:sp>
      <p:sp>
        <p:nvSpPr>
          <p:cNvPr id="15" name="TextBox 14"/>
          <p:cNvSpPr txBox="1"/>
          <p:nvPr/>
        </p:nvSpPr>
        <p:spPr>
          <a:xfrm>
            <a:off x="1066800" y="5308600"/>
            <a:ext cx="2895600" cy="381000"/>
          </a:xfrm>
          <a:prstGeom prst="rect">
            <a:avLst/>
          </a:prstGeom>
          <a:noFill/>
        </p:spPr>
        <p:txBody>
          <a:bodyPr wrap="square" lIns="0" rIns="0" tIns="0" bIns="0" anchor="t">
            <a:spAutoFit/>
          </a:bodyPr>
          <a:lstStyle/>
          <a:p>
            <a:pPr algn="l">
              <a:lnSpc>
                <a:spcPct val="115000"/>
              </a:lnSpc>
            </a:pPr>
            <a:r>
              <a:rPr sz="1600" b="1">
                <a:solidFill>
                  <a:srgbClr val="C9CCE8"/>
                </a:solidFill>
                <a:latin typeface="Segoe UI"/>
              </a:rPr>
              <a:t>compagnons animaux en 3D</a:t>
            </a:r>
          </a:p>
        </p:txBody>
      </p:sp>
      <p:sp>
        <p:nvSpPr>
          <p:cNvPr id="16" name="Rounded Rectangle 15"/>
          <p:cNvSpPr/>
          <p:nvPr/>
        </p:nvSpPr>
        <p:spPr>
          <a:xfrm>
            <a:off x="4394200" y="4229100"/>
            <a:ext cx="3403600" cy="1663700"/>
          </a:xfrm>
          <a:prstGeom prst="roundRect">
            <a:avLst>
              <a:gd name="adj" fmla="val 9160"/>
            </a:avLst>
          </a:prstGeom>
          <a:solidFill>
            <a:srgbClr val="2026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8200" y="4419600"/>
            <a:ext cx="2895600" cy="825500"/>
          </a:xfrm>
          <a:prstGeom prst="rect">
            <a:avLst/>
          </a:prstGeom>
          <a:noFill/>
        </p:spPr>
        <p:txBody>
          <a:bodyPr wrap="square" lIns="0" rIns="0" tIns="0" bIns="0" anchor="t">
            <a:spAutoFit/>
          </a:bodyPr>
          <a:lstStyle/>
          <a:p>
            <a:pPr algn="l">
              <a:lnSpc>
                <a:spcPct val="115000"/>
              </a:lnSpc>
            </a:pPr>
            <a:r>
              <a:rPr sz="5500" b="0">
                <a:solidFill>
                  <a:srgbClr val="F2A93B"/>
                </a:solidFill>
                <a:latin typeface="Segoe UI Semibold"/>
              </a:rPr>
              <a:t>3</a:t>
            </a:r>
          </a:p>
        </p:txBody>
      </p:sp>
      <p:sp>
        <p:nvSpPr>
          <p:cNvPr id="18" name="TextBox 17"/>
          <p:cNvSpPr txBox="1"/>
          <p:nvPr/>
        </p:nvSpPr>
        <p:spPr>
          <a:xfrm>
            <a:off x="4648200" y="5308600"/>
            <a:ext cx="2895600" cy="381000"/>
          </a:xfrm>
          <a:prstGeom prst="rect">
            <a:avLst/>
          </a:prstGeom>
          <a:noFill/>
        </p:spPr>
        <p:txBody>
          <a:bodyPr wrap="square" lIns="0" rIns="0" tIns="0" bIns="0" anchor="t">
            <a:spAutoFit/>
          </a:bodyPr>
          <a:lstStyle/>
          <a:p>
            <a:pPr algn="l">
              <a:lnSpc>
                <a:spcPct val="115000"/>
              </a:lnSpc>
            </a:pPr>
            <a:r>
              <a:rPr sz="1600" b="1">
                <a:solidFill>
                  <a:srgbClr val="C9CCE8"/>
                </a:solidFill>
                <a:latin typeface="Segoe UI"/>
              </a:rPr>
              <a:t>langues : FR · EN · AR</a:t>
            </a:r>
          </a:p>
        </p:txBody>
      </p:sp>
      <p:sp>
        <p:nvSpPr>
          <p:cNvPr id="19" name="Rounded Rectangle 18"/>
          <p:cNvSpPr/>
          <p:nvPr/>
        </p:nvSpPr>
        <p:spPr>
          <a:xfrm>
            <a:off x="7975600" y="4229100"/>
            <a:ext cx="3403600" cy="1663700"/>
          </a:xfrm>
          <a:prstGeom prst="roundRect">
            <a:avLst>
              <a:gd name="adj" fmla="val 9160"/>
            </a:avLst>
          </a:prstGeom>
          <a:solidFill>
            <a:srgbClr val="2026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4419600"/>
            <a:ext cx="2895600" cy="825500"/>
          </a:xfrm>
          <a:prstGeom prst="rect">
            <a:avLst/>
          </a:prstGeom>
          <a:noFill/>
        </p:spPr>
        <p:txBody>
          <a:bodyPr wrap="square" lIns="0" rIns="0" tIns="0" bIns="0" anchor="t">
            <a:spAutoFit/>
          </a:bodyPr>
          <a:lstStyle/>
          <a:p>
            <a:pPr algn="l">
              <a:lnSpc>
                <a:spcPct val="115000"/>
              </a:lnSpc>
            </a:pPr>
            <a:r>
              <a:rPr sz="5500" b="0">
                <a:solidFill>
                  <a:srgbClr val="FBF6EE"/>
                </a:solidFill>
                <a:latin typeface="Segoe UI Semibold"/>
              </a:rPr>
              <a:t>41</a:t>
            </a:r>
          </a:p>
        </p:txBody>
      </p:sp>
      <p:sp>
        <p:nvSpPr>
          <p:cNvPr id="21" name="TextBox 20"/>
          <p:cNvSpPr txBox="1"/>
          <p:nvPr/>
        </p:nvSpPr>
        <p:spPr>
          <a:xfrm>
            <a:off x="8229600" y="5308600"/>
            <a:ext cx="2895600" cy="381000"/>
          </a:xfrm>
          <a:prstGeom prst="rect">
            <a:avLst/>
          </a:prstGeom>
          <a:noFill/>
        </p:spPr>
        <p:txBody>
          <a:bodyPr wrap="square" lIns="0" rIns="0" tIns="0" bIns="0" anchor="t">
            <a:spAutoFit/>
          </a:bodyPr>
          <a:lstStyle/>
          <a:p>
            <a:pPr algn="l">
              <a:lnSpc>
                <a:spcPct val="115000"/>
              </a:lnSpc>
            </a:pPr>
            <a:r>
              <a:rPr sz="1600" b="1">
                <a:solidFill>
                  <a:srgbClr val="C9CCE8"/>
                </a:solidFill>
                <a:latin typeface="Segoe UI"/>
              </a:rPr>
              <a:t>tests automatisés</a:t>
            </a:r>
          </a:p>
        </p:txBody>
      </p:sp>
      <p:sp>
        <p:nvSpPr>
          <p:cNvPr id="22" name="TextBox 21"/>
          <p:cNvSpPr txBox="1"/>
          <p:nvPr/>
        </p:nvSpPr>
        <p:spPr>
          <a:xfrm>
            <a:off x="812800" y="6350000"/>
            <a:ext cx="7620000" cy="215900"/>
          </a:xfrm>
          <a:prstGeom prst="rect">
            <a:avLst/>
          </a:prstGeom>
          <a:noFill/>
        </p:spPr>
        <p:txBody>
          <a:bodyPr wrap="square" lIns="0" rIns="0" tIns="0" bIns="0" anchor="t">
            <a:spAutoFit/>
          </a:bodyPr>
          <a:lstStyle/>
          <a:p>
            <a:pPr algn="l">
              <a:lnSpc>
                <a:spcPct val="115000"/>
              </a:lnSpc>
            </a:pPr>
            <a:r>
              <a:rPr sz="1200" b="0">
                <a:solidFill>
                  <a:srgbClr val="7E82A8"/>
                </a:solidFill>
                <a:latin typeface="Segoe UI"/>
              </a:rPr>
              <a:t>MyRugy Kids · Hackathon</a:t>
            </a:r>
          </a:p>
        </p:txBody>
      </p:sp>
      <p:sp>
        <p:nvSpPr>
          <p:cNvPr id="23" name="TextBox 22"/>
          <p:cNvSpPr txBox="1"/>
          <p:nvPr/>
        </p:nvSpPr>
        <p:spPr>
          <a:xfrm>
            <a:off x="10109200" y="6350000"/>
            <a:ext cx="1270000" cy="215900"/>
          </a:xfrm>
          <a:prstGeom prst="rect">
            <a:avLst/>
          </a:prstGeom>
          <a:noFill/>
        </p:spPr>
        <p:txBody>
          <a:bodyPr wrap="square" lIns="0" rIns="0" tIns="0" bIns="0" anchor="t">
            <a:spAutoFit/>
          </a:bodyPr>
          <a:lstStyle/>
          <a:p>
            <a:pPr algn="r">
              <a:lnSpc>
                <a:spcPct val="115000"/>
              </a:lnSpc>
            </a:pPr>
            <a:r>
              <a:rPr sz="1200" b="0">
                <a:solidFill>
                  <a:srgbClr val="7E82A8"/>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6EE"/>
        </a:solidFill>
        <a:effectLst/>
      </p:bgPr>
    </p:bg>
    <p:spTree>
      <p:nvGrpSpPr>
        <p:cNvPr id="1" name=""/>
        <p:cNvGrpSpPr/>
        <p:nvPr/>
      </p:nvGrpSpPr>
      <p:grpSpPr/>
      <p:sp>
        <p:nvSpPr>
          <p:cNvPr id="2" name="TextBox 1"/>
          <p:cNvSpPr txBox="1"/>
          <p:nvPr/>
        </p:nvSpPr>
        <p:spPr>
          <a:xfrm>
            <a:off x="812800" y="812800"/>
            <a:ext cx="10566400" cy="254000"/>
          </a:xfrm>
          <a:prstGeom prst="rect">
            <a:avLst/>
          </a:prstGeom>
          <a:noFill/>
        </p:spPr>
        <p:txBody>
          <a:bodyPr wrap="square" lIns="0" rIns="0" tIns="0" bIns="0" anchor="t">
            <a:spAutoFit/>
          </a:bodyPr>
          <a:lstStyle/>
          <a:p>
            <a:pPr algn="l">
              <a:lnSpc>
                <a:spcPct val="115000"/>
              </a:lnSpc>
            </a:pPr>
            <a:r>
              <a:rPr sz="1400" b="1">
                <a:solidFill>
                  <a:srgbClr val="3D4FD6"/>
                </a:solidFill>
                <a:latin typeface="Segoe UI"/>
              </a:rPr>
              <a:t>DU NUMÉRIQUE AU RÉEL</a:t>
            </a:r>
          </a:p>
        </p:txBody>
      </p:sp>
      <p:sp>
        <p:nvSpPr>
          <p:cNvPr id="3" name="TextBox 2"/>
          <p:cNvSpPr txBox="1"/>
          <p:nvPr/>
        </p:nvSpPr>
        <p:spPr>
          <a:xfrm>
            <a:off x="812800" y="1168400"/>
            <a:ext cx="10566400" cy="1079500"/>
          </a:xfrm>
          <a:prstGeom prst="rect">
            <a:avLst/>
          </a:prstGeom>
          <a:noFill/>
        </p:spPr>
        <p:txBody>
          <a:bodyPr wrap="square" lIns="0" rIns="0" tIns="0" bIns="0" anchor="t">
            <a:spAutoFit/>
          </a:bodyPr>
          <a:lstStyle/>
          <a:p>
            <a:pPr algn="l">
              <a:lnSpc>
                <a:spcPct val="105000"/>
              </a:lnSpc>
            </a:pPr>
            <a:r>
              <a:rPr sz="3600" b="0">
                <a:solidFill>
                  <a:srgbClr val="1E2140"/>
                </a:solidFill>
                <a:latin typeface="Segoe UI Semibold"/>
              </a:rPr>
              <a:t>L'application mène à la Box MyRugy</a:t>
            </a:r>
          </a:p>
        </p:txBody>
      </p:sp>
      <p:sp>
        <p:nvSpPr>
          <p:cNvPr id="4" name="Rounded Rectangle 3"/>
          <p:cNvSpPr/>
          <p:nvPr/>
        </p:nvSpPr>
        <p:spPr>
          <a:xfrm>
            <a:off x="812800" y="2476500"/>
            <a:ext cx="3386666" cy="3175000"/>
          </a:xfrm>
          <a:prstGeom prst="roundRect">
            <a:avLst>
              <a:gd name="adj" fmla="val 5600"/>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6800" y="2730500"/>
            <a:ext cx="2878666" cy="469900"/>
          </a:xfrm>
          <a:prstGeom prst="rect">
            <a:avLst/>
          </a:prstGeom>
          <a:noFill/>
        </p:spPr>
        <p:txBody>
          <a:bodyPr wrap="square" lIns="0" rIns="0" tIns="0" bIns="0" anchor="t">
            <a:spAutoFit/>
          </a:bodyPr>
          <a:lstStyle/>
          <a:p>
            <a:pPr algn="l">
              <a:lnSpc>
                <a:spcPct val="115000"/>
              </a:lnSpc>
            </a:pPr>
            <a:r>
              <a:rPr sz="3200" b="0">
                <a:solidFill>
                  <a:srgbClr val="1E2140"/>
                </a:solidFill>
                <a:latin typeface="Segoe UI Emoji"/>
              </a:rPr>
              <a:t>🎁</a:t>
            </a:r>
          </a:p>
        </p:txBody>
      </p:sp>
      <p:sp>
        <p:nvSpPr>
          <p:cNvPr id="6" name="TextBox 5"/>
          <p:cNvSpPr txBox="1"/>
          <p:nvPr/>
        </p:nvSpPr>
        <p:spPr>
          <a:xfrm>
            <a:off x="1066800" y="3289300"/>
            <a:ext cx="2878666" cy="330200"/>
          </a:xfrm>
          <a:prstGeom prst="rect">
            <a:avLst/>
          </a:prstGeom>
          <a:noFill/>
        </p:spPr>
        <p:txBody>
          <a:bodyPr wrap="square" lIns="0" rIns="0" tIns="0" bIns="0" anchor="t">
            <a:spAutoFit/>
          </a:bodyPr>
          <a:lstStyle/>
          <a:p>
            <a:pPr algn="l">
              <a:lnSpc>
                <a:spcPct val="115000"/>
              </a:lnSpc>
            </a:pPr>
            <a:r>
              <a:rPr sz="2000" b="0">
                <a:solidFill>
                  <a:srgbClr val="1E2140"/>
                </a:solidFill>
                <a:latin typeface="Segoe UI Semibold"/>
              </a:rPr>
              <a:t>Box personnalisée</a:t>
            </a:r>
          </a:p>
        </p:txBody>
      </p:sp>
      <p:sp>
        <p:nvSpPr>
          <p:cNvPr id="7" name="TextBox 6"/>
          <p:cNvSpPr txBox="1"/>
          <p:nvPr/>
        </p:nvSpPr>
        <p:spPr>
          <a:xfrm>
            <a:off x="1066800" y="3708400"/>
            <a:ext cx="2878666" cy="1778000"/>
          </a:xfrm>
          <a:prstGeom prst="rect">
            <a:avLst/>
          </a:prstGeom>
          <a:noFill/>
        </p:spPr>
        <p:txBody>
          <a:bodyPr wrap="square" lIns="0" rIns="0" tIns="0" bIns="0" anchor="t">
            <a:spAutoFit/>
          </a:bodyPr>
          <a:lstStyle/>
          <a:p>
            <a:pPr algn="l">
              <a:lnSpc>
                <a:spcPct val="120000"/>
              </a:lnSpc>
            </a:pPr>
            <a:r>
              <a:rPr sz="1500" b="0">
                <a:solidFill>
                  <a:srgbClr val="4A4868"/>
                </a:solidFill>
                <a:latin typeface="Segoe UI"/>
              </a:rPr>
              <a:t>Une aventure proposée selon les intérêts de l'enfant, avec un vrai kit de tissage. Prix : [€__].</a:t>
            </a:r>
          </a:p>
        </p:txBody>
      </p:sp>
      <p:sp>
        <p:nvSpPr>
          <p:cNvPr id="8" name="Rounded Rectangle 7"/>
          <p:cNvSpPr/>
          <p:nvPr/>
        </p:nvSpPr>
        <p:spPr>
          <a:xfrm>
            <a:off x="4402666" y="2476500"/>
            <a:ext cx="3386666" cy="3175000"/>
          </a:xfrm>
          <a:prstGeom prst="roundRect">
            <a:avLst>
              <a:gd name="adj" fmla="val 5600"/>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56666" y="2730500"/>
            <a:ext cx="2878666" cy="469900"/>
          </a:xfrm>
          <a:prstGeom prst="rect">
            <a:avLst/>
          </a:prstGeom>
          <a:noFill/>
        </p:spPr>
        <p:txBody>
          <a:bodyPr wrap="square" lIns="0" rIns="0" tIns="0" bIns="0" anchor="t">
            <a:spAutoFit/>
          </a:bodyPr>
          <a:lstStyle/>
          <a:p>
            <a:pPr algn="l">
              <a:lnSpc>
                <a:spcPct val="115000"/>
              </a:lnSpc>
            </a:pPr>
            <a:r>
              <a:rPr sz="3200" b="0">
                <a:solidFill>
                  <a:srgbClr val="1E2140"/>
                </a:solidFill>
                <a:latin typeface="Segoe UI Emoji"/>
              </a:rPr>
              <a:t>💳</a:t>
            </a:r>
          </a:p>
        </p:txBody>
      </p:sp>
      <p:sp>
        <p:nvSpPr>
          <p:cNvPr id="10" name="TextBox 9"/>
          <p:cNvSpPr txBox="1"/>
          <p:nvPr/>
        </p:nvSpPr>
        <p:spPr>
          <a:xfrm>
            <a:off x="4656666" y="3289300"/>
            <a:ext cx="2878666" cy="330200"/>
          </a:xfrm>
          <a:prstGeom prst="rect">
            <a:avLst/>
          </a:prstGeom>
          <a:noFill/>
        </p:spPr>
        <p:txBody>
          <a:bodyPr wrap="square" lIns="0" rIns="0" tIns="0" bIns="0" anchor="t">
            <a:spAutoFit/>
          </a:bodyPr>
          <a:lstStyle/>
          <a:p>
            <a:pPr algn="l">
              <a:lnSpc>
                <a:spcPct val="115000"/>
              </a:lnSpc>
            </a:pPr>
            <a:r>
              <a:rPr sz="2000" b="0">
                <a:solidFill>
                  <a:srgbClr val="1E2140"/>
                </a:solidFill>
                <a:latin typeface="Segoe UI Semibold"/>
              </a:rPr>
              <a:t>Paiement intégré</a:t>
            </a:r>
          </a:p>
        </p:txBody>
      </p:sp>
      <p:sp>
        <p:nvSpPr>
          <p:cNvPr id="11" name="TextBox 10"/>
          <p:cNvSpPr txBox="1"/>
          <p:nvPr/>
        </p:nvSpPr>
        <p:spPr>
          <a:xfrm>
            <a:off x="4656666" y="3708400"/>
            <a:ext cx="2878666" cy="1778000"/>
          </a:xfrm>
          <a:prstGeom prst="rect">
            <a:avLst/>
          </a:prstGeom>
          <a:noFill/>
        </p:spPr>
        <p:txBody>
          <a:bodyPr wrap="square" lIns="0" rIns="0" tIns="0" bIns="0" anchor="t">
            <a:spAutoFit/>
          </a:bodyPr>
          <a:lstStyle/>
          <a:p>
            <a:pPr algn="l">
              <a:lnSpc>
                <a:spcPct val="120000"/>
              </a:lnSpc>
            </a:pPr>
            <a:r>
              <a:rPr sz="1500" b="0">
                <a:solidFill>
                  <a:srgbClr val="4A4868"/>
                </a:solidFill>
                <a:latin typeface="Segoe UI"/>
              </a:rPr>
              <a:t>Tunnel de commande avec Payzone (simulé pendant le hackathon).</a:t>
            </a:r>
          </a:p>
        </p:txBody>
      </p:sp>
      <p:sp>
        <p:nvSpPr>
          <p:cNvPr id="12" name="Rounded Rectangle 11"/>
          <p:cNvSpPr/>
          <p:nvPr/>
        </p:nvSpPr>
        <p:spPr>
          <a:xfrm>
            <a:off x="7992533" y="2476500"/>
            <a:ext cx="3386666" cy="3175000"/>
          </a:xfrm>
          <a:prstGeom prst="roundRect">
            <a:avLst>
              <a:gd name="adj" fmla="val 5600"/>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6533" y="2730500"/>
            <a:ext cx="2878666" cy="469900"/>
          </a:xfrm>
          <a:prstGeom prst="rect">
            <a:avLst/>
          </a:prstGeom>
          <a:noFill/>
        </p:spPr>
        <p:txBody>
          <a:bodyPr wrap="square" lIns="0" rIns="0" tIns="0" bIns="0" anchor="t">
            <a:spAutoFit/>
          </a:bodyPr>
          <a:lstStyle/>
          <a:p>
            <a:pPr algn="l">
              <a:lnSpc>
                <a:spcPct val="115000"/>
              </a:lnSpc>
            </a:pPr>
            <a:r>
              <a:rPr sz="3200" b="0">
                <a:solidFill>
                  <a:srgbClr val="1E2140"/>
                </a:solidFill>
                <a:latin typeface="Segoe UI Emoji"/>
              </a:rPr>
              <a:t>📊</a:t>
            </a:r>
          </a:p>
        </p:txBody>
      </p:sp>
      <p:sp>
        <p:nvSpPr>
          <p:cNvPr id="14" name="TextBox 13"/>
          <p:cNvSpPr txBox="1"/>
          <p:nvPr/>
        </p:nvSpPr>
        <p:spPr>
          <a:xfrm>
            <a:off x="8246533" y="3289300"/>
            <a:ext cx="2878666" cy="330200"/>
          </a:xfrm>
          <a:prstGeom prst="rect">
            <a:avLst/>
          </a:prstGeom>
          <a:noFill/>
        </p:spPr>
        <p:txBody>
          <a:bodyPr wrap="square" lIns="0" rIns="0" tIns="0" bIns="0" anchor="t">
            <a:spAutoFit/>
          </a:bodyPr>
          <a:lstStyle/>
          <a:p>
            <a:pPr algn="l">
              <a:lnSpc>
                <a:spcPct val="115000"/>
              </a:lnSpc>
            </a:pPr>
            <a:r>
              <a:rPr sz="2000" b="0">
                <a:solidFill>
                  <a:srgbClr val="1E2140"/>
                </a:solidFill>
                <a:latin typeface="Segoe UI Semibold"/>
              </a:rPr>
              <a:t>Mesuré avec les parents</a:t>
            </a:r>
          </a:p>
        </p:txBody>
      </p:sp>
      <p:sp>
        <p:nvSpPr>
          <p:cNvPr id="15" name="TextBox 14"/>
          <p:cNvSpPr txBox="1"/>
          <p:nvPr/>
        </p:nvSpPr>
        <p:spPr>
          <a:xfrm>
            <a:off x="8246533" y="3708400"/>
            <a:ext cx="2878666" cy="1778000"/>
          </a:xfrm>
          <a:prstGeom prst="rect">
            <a:avLst/>
          </a:prstGeom>
          <a:noFill/>
        </p:spPr>
        <p:txBody>
          <a:bodyPr wrap="square" lIns="0" rIns="0" tIns="0" bIns="0" anchor="t">
            <a:spAutoFit/>
          </a:bodyPr>
          <a:lstStyle/>
          <a:p>
            <a:pPr algn="l">
              <a:lnSpc>
                <a:spcPct val="120000"/>
              </a:lnSpc>
            </a:pPr>
            <a:r>
              <a:rPr sz="1500" b="0">
                <a:solidFill>
                  <a:srgbClr val="4A4868"/>
                </a:solidFill>
                <a:latin typeface="Segoe UI"/>
              </a:rPr>
              <a:t>Test à l'aveugle : proposition personnalisée contre générique, notée par les parents.</a:t>
            </a:r>
          </a:p>
        </p:txBody>
      </p:sp>
      <p:sp>
        <p:nvSpPr>
          <p:cNvPr id="16" name="TextBox 15"/>
          <p:cNvSpPr txBox="1"/>
          <p:nvPr/>
        </p:nvSpPr>
        <p:spPr>
          <a:xfrm>
            <a:off x="812800" y="6350000"/>
            <a:ext cx="7620000" cy="215900"/>
          </a:xfrm>
          <a:prstGeom prst="rect">
            <a:avLst/>
          </a:prstGeom>
          <a:noFill/>
        </p:spPr>
        <p:txBody>
          <a:bodyPr wrap="square" lIns="0" rIns="0" tIns="0" bIns="0" anchor="t">
            <a:spAutoFit/>
          </a:bodyPr>
          <a:lstStyle/>
          <a:p>
            <a:pPr algn="l">
              <a:lnSpc>
                <a:spcPct val="115000"/>
              </a:lnSpc>
            </a:pPr>
            <a:r>
              <a:rPr sz="1200" b="0">
                <a:solidFill>
                  <a:srgbClr val="8A8499"/>
                </a:solidFill>
                <a:latin typeface="Segoe UI"/>
              </a:rPr>
              <a:t>MyRugy Kids · Hackathon</a:t>
            </a:r>
          </a:p>
        </p:txBody>
      </p:sp>
      <p:sp>
        <p:nvSpPr>
          <p:cNvPr id="17" name="TextBox 16"/>
          <p:cNvSpPr txBox="1"/>
          <p:nvPr/>
        </p:nvSpPr>
        <p:spPr>
          <a:xfrm>
            <a:off x="10109200" y="6350000"/>
            <a:ext cx="1270000" cy="215900"/>
          </a:xfrm>
          <a:prstGeom prst="rect">
            <a:avLst/>
          </a:prstGeom>
          <a:noFill/>
        </p:spPr>
        <p:txBody>
          <a:bodyPr wrap="square" lIns="0" rIns="0" tIns="0" bIns="0" anchor="t">
            <a:spAutoFit/>
          </a:bodyPr>
          <a:lstStyle/>
          <a:p>
            <a:pPr algn="r">
              <a:lnSpc>
                <a:spcPct val="115000"/>
              </a:lnSpc>
            </a:pPr>
            <a:r>
              <a:rPr sz="1200" b="0">
                <a:solidFill>
                  <a:srgbClr val="8A8499"/>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6EE"/>
        </a:solidFill>
        <a:effectLst/>
      </p:bgPr>
    </p:bg>
    <p:spTree>
      <p:nvGrpSpPr>
        <p:cNvPr id="1" name=""/>
        <p:cNvGrpSpPr/>
        <p:nvPr/>
      </p:nvGrpSpPr>
      <p:grpSpPr/>
      <p:sp>
        <p:nvSpPr>
          <p:cNvPr id="2" name="TextBox 1"/>
          <p:cNvSpPr txBox="1"/>
          <p:nvPr/>
        </p:nvSpPr>
        <p:spPr>
          <a:xfrm>
            <a:off x="812800" y="812800"/>
            <a:ext cx="10566400" cy="254000"/>
          </a:xfrm>
          <a:prstGeom prst="rect">
            <a:avLst/>
          </a:prstGeom>
          <a:noFill/>
        </p:spPr>
        <p:txBody>
          <a:bodyPr wrap="square" lIns="0" rIns="0" tIns="0" bIns="0" anchor="t">
            <a:spAutoFit/>
          </a:bodyPr>
          <a:lstStyle/>
          <a:p>
            <a:pPr algn="l">
              <a:lnSpc>
                <a:spcPct val="115000"/>
              </a:lnSpc>
            </a:pPr>
            <a:r>
              <a:rPr sz="1400" b="1">
                <a:solidFill>
                  <a:srgbClr val="3D4FD6"/>
                </a:solidFill>
                <a:latin typeface="Segoe UI"/>
              </a:rPr>
              <a:t>DÉMO EN DIRECT</a:t>
            </a:r>
          </a:p>
        </p:txBody>
      </p:sp>
      <p:sp>
        <p:nvSpPr>
          <p:cNvPr id="3" name="TextBox 2"/>
          <p:cNvSpPr txBox="1"/>
          <p:nvPr/>
        </p:nvSpPr>
        <p:spPr>
          <a:xfrm>
            <a:off x="812800" y="1168400"/>
            <a:ext cx="10566400" cy="1079500"/>
          </a:xfrm>
          <a:prstGeom prst="rect">
            <a:avLst/>
          </a:prstGeom>
          <a:noFill/>
        </p:spPr>
        <p:txBody>
          <a:bodyPr wrap="square" lIns="0" rIns="0" tIns="0" bIns="0" anchor="t">
            <a:spAutoFit/>
          </a:bodyPr>
          <a:lstStyle/>
          <a:p>
            <a:pPr algn="l">
              <a:lnSpc>
                <a:spcPct val="105000"/>
              </a:lnSpc>
            </a:pPr>
            <a:r>
              <a:rPr sz="3600" b="0">
                <a:solidFill>
                  <a:srgbClr val="1E2140"/>
                </a:solidFill>
                <a:latin typeface="Segoe UI Semibold"/>
              </a:rPr>
              <a:t>Trois minutes dans la peau d'une famille</a:t>
            </a:r>
          </a:p>
        </p:txBody>
      </p:sp>
      <p:sp>
        <p:nvSpPr>
          <p:cNvPr id="4" name="Rounded Rectangle 3"/>
          <p:cNvSpPr/>
          <p:nvPr/>
        </p:nvSpPr>
        <p:spPr>
          <a:xfrm>
            <a:off x="812800" y="2413000"/>
            <a:ext cx="10566400" cy="558800"/>
          </a:xfrm>
          <a:prstGeom prst="roundRect">
            <a:avLst>
              <a:gd name="adj" fmla="val 22727"/>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90600" y="2501900"/>
            <a:ext cx="508000" cy="381000"/>
          </a:xfrm>
          <a:prstGeom prst="roundRect">
            <a:avLst>
              <a:gd name="adj" fmla="val 50000"/>
            </a:avLst>
          </a:prstGeom>
          <a:solidFill>
            <a:srgbClr val="3D4FD6"/>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2000" b="1">
                <a:solidFill>
                  <a:srgbClr val="FBF6EE"/>
                </a:solidFill>
                <a:latin typeface="Segoe UI"/>
              </a:rPr>
              <a:t>1</a:t>
            </a:r>
          </a:p>
        </p:txBody>
      </p:sp>
      <p:sp>
        <p:nvSpPr>
          <p:cNvPr id="6" name="TextBox 5"/>
          <p:cNvSpPr txBox="1"/>
          <p:nvPr/>
        </p:nvSpPr>
        <p:spPr>
          <a:xfrm>
            <a:off x="1727200" y="2552700"/>
            <a:ext cx="9398000" cy="317500"/>
          </a:xfrm>
          <a:prstGeom prst="rect">
            <a:avLst/>
          </a:prstGeom>
          <a:noFill/>
        </p:spPr>
        <p:txBody>
          <a:bodyPr wrap="square" lIns="0" rIns="0" tIns="0" bIns="0" anchor="t">
            <a:spAutoFit/>
          </a:bodyPr>
          <a:lstStyle/>
          <a:p>
            <a:pPr algn="l">
              <a:lnSpc>
                <a:spcPct val="115000"/>
              </a:lnSpc>
            </a:pPr>
            <a:r>
              <a:rPr sz="1600" b="1">
                <a:solidFill>
                  <a:srgbClr val="1E2140"/>
                </a:solidFill>
                <a:latin typeface="Segoe UI"/>
              </a:rPr>
              <a:t>Un parent crée le compte et la carte d'explorateur</a:t>
            </a:r>
          </a:p>
        </p:txBody>
      </p:sp>
      <p:sp>
        <p:nvSpPr>
          <p:cNvPr id="7" name="Rounded Rectangle 6"/>
          <p:cNvSpPr/>
          <p:nvPr/>
        </p:nvSpPr>
        <p:spPr>
          <a:xfrm>
            <a:off x="812800" y="3073400"/>
            <a:ext cx="10566400" cy="558800"/>
          </a:xfrm>
          <a:prstGeom prst="roundRect">
            <a:avLst>
              <a:gd name="adj" fmla="val 22727"/>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90600" y="3162300"/>
            <a:ext cx="508000" cy="381000"/>
          </a:xfrm>
          <a:prstGeom prst="roundRect">
            <a:avLst>
              <a:gd name="adj" fmla="val 50000"/>
            </a:avLst>
          </a:prstGeom>
          <a:solidFill>
            <a:srgbClr val="3D4FD6"/>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2000" b="1">
                <a:solidFill>
                  <a:srgbClr val="FBF6EE"/>
                </a:solidFill>
                <a:latin typeface="Segoe UI"/>
              </a:rPr>
              <a:t>2</a:t>
            </a:r>
          </a:p>
        </p:txBody>
      </p:sp>
      <p:sp>
        <p:nvSpPr>
          <p:cNvPr id="9" name="TextBox 8"/>
          <p:cNvSpPr txBox="1"/>
          <p:nvPr/>
        </p:nvSpPr>
        <p:spPr>
          <a:xfrm>
            <a:off x="1727200" y="3213100"/>
            <a:ext cx="9398000" cy="317500"/>
          </a:xfrm>
          <a:prstGeom prst="rect">
            <a:avLst/>
          </a:prstGeom>
          <a:noFill/>
        </p:spPr>
        <p:txBody>
          <a:bodyPr wrap="square" lIns="0" rIns="0" tIns="0" bIns="0" anchor="t">
            <a:spAutoFit/>
          </a:bodyPr>
          <a:lstStyle/>
          <a:p>
            <a:pPr algn="l">
              <a:lnSpc>
                <a:spcPct val="115000"/>
              </a:lnSpc>
            </a:pPr>
            <a:r>
              <a:rPr sz="1600" b="1">
                <a:solidFill>
                  <a:srgbClr val="1E2140"/>
                </a:solidFill>
                <a:latin typeface="Segoe UI"/>
              </a:rPr>
              <a:t>L'enfant crée son code secret 🐱 → ⭐ → 🚀 → 🦖</a:t>
            </a:r>
          </a:p>
        </p:txBody>
      </p:sp>
      <p:sp>
        <p:nvSpPr>
          <p:cNvPr id="10" name="Rounded Rectangle 9"/>
          <p:cNvSpPr/>
          <p:nvPr/>
        </p:nvSpPr>
        <p:spPr>
          <a:xfrm>
            <a:off x="812800" y="3733800"/>
            <a:ext cx="10566400" cy="558800"/>
          </a:xfrm>
          <a:prstGeom prst="roundRect">
            <a:avLst>
              <a:gd name="adj" fmla="val 22727"/>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90600" y="3822700"/>
            <a:ext cx="508000" cy="381000"/>
          </a:xfrm>
          <a:prstGeom prst="roundRect">
            <a:avLst>
              <a:gd name="adj" fmla="val 50000"/>
            </a:avLst>
          </a:prstGeom>
          <a:solidFill>
            <a:srgbClr val="3D4FD6"/>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2000" b="1">
                <a:solidFill>
                  <a:srgbClr val="FBF6EE"/>
                </a:solidFill>
                <a:latin typeface="Segoe UI"/>
              </a:rPr>
              <a:t>3</a:t>
            </a:r>
          </a:p>
        </p:txBody>
      </p:sp>
      <p:sp>
        <p:nvSpPr>
          <p:cNvPr id="12" name="TextBox 11"/>
          <p:cNvSpPr txBox="1"/>
          <p:nvPr/>
        </p:nvSpPr>
        <p:spPr>
          <a:xfrm>
            <a:off x="1727200" y="3873500"/>
            <a:ext cx="9398000" cy="317500"/>
          </a:xfrm>
          <a:prstGeom prst="rect">
            <a:avLst/>
          </a:prstGeom>
          <a:noFill/>
        </p:spPr>
        <p:txBody>
          <a:bodyPr wrap="square" lIns="0" rIns="0" tIns="0" bIns="0" anchor="t">
            <a:spAutoFit/>
          </a:bodyPr>
          <a:lstStyle/>
          <a:p>
            <a:pPr algn="l">
              <a:lnSpc>
                <a:spcPct val="115000"/>
              </a:lnSpc>
            </a:pPr>
            <a:r>
              <a:rPr sz="1600" b="1">
                <a:solidFill>
                  <a:srgbClr val="1E2140"/>
                </a:solidFill>
                <a:latin typeface="Segoe UI"/>
              </a:rPr>
              <a:t>Leçon : vidéo, puis jeu avec l'aide du compagnon</a:t>
            </a:r>
          </a:p>
        </p:txBody>
      </p:sp>
      <p:sp>
        <p:nvSpPr>
          <p:cNvPr id="13" name="Rounded Rectangle 12"/>
          <p:cNvSpPr/>
          <p:nvPr/>
        </p:nvSpPr>
        <p:spPr>
          <a:xfrm>
            <a:off x="812800" y="4394200"/>
            <a:ext cx="10566400" cy="558800"/>
          </a:xfrm>
          <a:prstGeom prst="roundRect">
            <a:avLst>
              <a:gd name="adj" fmla="val 22727"/>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90600" y="4483100"/>
            <a:ext cx="508000" cy="381000"/>
          </a:xfrm>
          <a:prstGeom prst="roundRect">
            <a:avLst>
              <a:gd name="adj" fmla="val 50000"/>
            </a:avLst>
          </a:prstGeom>
          <a:solidFill>
            <a:srgbClr val="3D4FD6"/>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2000" b="1">
                <a:solidFill>
                  <a:srgbClr val="FBF6EE"/>
                </a:solidFill>
                <a:latin typeface="Segoe UI"/>
              </a:rPr>
              <a:t>4</a:t>
            </a:r>
          </a:p>
        </p:txBody>
      </p:sp>
      <p:sp>
        <p:nvSpPr>
          <p:cNvPr id="15" name="TextBox 14"/>
          <p:cNvSpPr txBox="1"/>
          <p:nvPr/>
        </p:nvSpPr>
        <p:spPr>
          <a:xfrm>
            <a:off x="1727200" y="4533900"/>
            <a:ext cx="9398000" cy="317500"/>
          </a:xfrm>
          <a:prstGeom prst="rect">
            <a:avLst/>
          </a:prstGeom>
          <a:noFill/>
        </p:spPr>
        <p:txBody>
          <a:bodyPr wrap="square" lIns="0" rIns="0" tIns="0" bIns="0" anchor="t">
            <a:spAutoFit/>
          </a:bodyPr>
          <a:lstStyle/>
          <a:p>
            <a:pPr algn="l">
              <a:lnSpc>
                <a:spcPct val="115000"/>
              </a:lnSpc>
            </a:pPr>
            <a:r>
              <a:rPr sz="1600" b="1">
                <a:solidFill>
                  <a:srgbClr val="1E2140"/>
                </a:solidFill>
                <a:latin typeface="Segoe UI"/>
              </a:rPr>
              <a:t>L'enfant parle au compagnon en arabe, il répond à voix haute</a:t>
            </a:r>
          </a:p>
        </p:txBody>
      </p:sp>
      <p:sp>
        <p:nvSpPr>
          <p:cNvPr id="16" name="Rounded Rectangle 15"/>
          <p:cNvSpPr/>
          <p:nvPr/>
        </p:nvSpPr>
        <p:spPr>
          <a:xfrm>
            <a:off x="812800" y="5054600"/>
            <a:ext cx="10566400" cy="558800"/>
          </a:xfrm>
          <a:prstGeom prst="roundRect">
            <a:avLst>
              <a:gd name="adj" fmla="val 22727"/>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90600" y="5143500"/>
            <a:ext cx="508000" cy="381000"/>
          </a:xfrm>
          <a:prstGeom prst="roundRect">
            <a:avLst>
              <a:gd name="adj" fmla="val 50000"/>
            </a:avLst>
          </a:prstGeom>
          <a:solidFill>
            <a:srgbClr val="3D4FD6"/>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2000" b="1">
                <a:solidFill>
                  <a:srgbClr val="FBF6EE"/>
                </a:solidFill>
                <a:latin typeface="Segoe UI"/>
              </a:rPr>
              <a:t>5</a:t>
            </a:r>
          </a:p>
        </p:txBody>
      </p:sp>
      <p:sp>
        <p:nvSpPr>
          <p:cNvPr id="18" name="TextBox 17"/>
          <p:cNvSpPr txBox="1"/>
          <p:nvPr/>
        </p:nvSpPr>
        <p:spPr>
          <a:xfrm>
            <a:off x="1727200" y="5194300"/>
            <a:ext cx="9398000" cy="317500"/>
          </a:xfrm>
          <a:prstGeom prst="rect">
            <a:avLst/>
          </a:prstGeom>
          <a:noFill/>
        </p:spPr>
        <p:txBody>
          <a:bodyPr wrap="square" lIns="0" rIns="0" tIns="0" bIns="0" anchor="t">
            <a:spAutoFit/>
          </a:bodyPr>
          <a:lstStyle/>
          <a:p>
            <a:pPr algn="l">
              <a:lnSpc>
                <a:spcPct val="115000"/>
              </a:lnSpc>
            </a:pPr>
            <a:r>
              <a:rPr sz="1600" b="1">
                <a:solidFill>
                  <a:srgbClr val="1E2140"/>
                </a:solidFill>
                <a:latin typeface="Segoe UI"/>
              </a:rPr>
              <a:t>Le parent retrouve les progrès, protégé par son mot de passe</a:t>
            </a:r>
          </a:p>
        </p:txBody>
      </p:sp>
      <p:sp>
        <p:nvSpPr>
          <p:cNvPr id="19" name="TextBox 18"/>
          <p:cNvSpPr txBox="1"/>
          <p:nvPr/>
        </p:nvSpPr>
        <p:spPr>
          <a:xfrm>
            <a:off x="812800" y="6350000"/>
            <a:ext cx="7620000" cy="215900"/>
          </a:xfrm>
          <a:prstGeom prst="rect">
            <a:avLst/>
          </a:prstGeom>
          <a:noFill/>
        </p:spPr>
        <p:txBody>
          <a:bodyPr wrap="square" lIns="0" rIns="0" tIns="0" bIns="0" anchor="t">
            <a:spAutoFit/>
          </a:bodyPr>
          <a:lstStyle/>
          <a:p>
            <a:pPr algn="l">
              <a:lnSpc>
                <a:spcPct val="115000"/>
              </a:lnSpc>
            </a:pPr>
            <a:r>
              <a:rPr sz="1200" b="0">
                <a:solidFill>
                  <a:srgbClr val="8A8499"/>
                </a:solidFill>
                <a:latin typeface="Segoe UI"/>
              </a:rPr>
              <a:t>MyRugy Kids · Hackathon</a:t>
            </a:r>
          </a:p>
        </p:txBody>
      </p:sp>
      <p:sp>
        <p:nvSpPr>
          <p:cNvPr id="20" name="TextBox 19"/>
          <p:cNvSpPr txBox="1"/>
          <p:nvPr/>
        </p:nvSpPr>
        <p:spPr>
          <a:xfrm>
            <a:off x="10109200" y="6350000"/>
            <a:ext cx="1270000" cy="215900"/>
          </a:xfrm>
          <a:prstGeom prst="rect">
            <a:avLst/>
          </a:prstGeom>
          <a:noFill/>
        </p:spPr>
        <p:txBody>
          <a:bodyPr wrap="square" lIns="0" rIns="0" tIns="0" bIns="0" anchor="t">
            <a:spAutoFit/>
          </a:bodyPr>
          <a:lstStyle/>
          <a:p>
            <a:pPr algn="r">
              <a:lnSpc>
                <a:spcPct val="115000"/>
              </a:lnSpc>
            </a:pPr>
            <a:r>
              <a:rPr sz="1200" b="0">
                <a:solidFill>
                  <a:srgbClr val="8A8499"/>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6EE"/>
        </a:solidFill>
        <a:effectLst/>
      </p:bgPr>
    </p:bg>
    <p:spTree>
      <p:nvGrpSpPr>
        <p:cNvPr id="1" name=""/>
        <p:cNvGrpSpPr/>
        <p:nvPr/>
      </p:nvGrpSpPr>
      <p:grpSpPr/>
      <p:sp>
        <p:nvSpPr>
          <p:cNvPr id="2" name="TextBox 1"/>
          <p:cNvSpPr txBox="1"/>
          <p:nvPr/>
        </p:nvSpPr>
        <p:spPr>
          <a:xfrm>
            <a:off x="812800" y="812800"/>
            <a:ext cx="10566400" cy="254000"/>
          </a:xfrm>
          <a:prstGeom prst="rect">
            <a:avLst/>
          </a:prstGeom>
          <a:noFill/>
        </p:spPr>
        <p:txBody>
          <a:bodyPr wrap="square" lIns="0" rIns="0" tIns="0" bIns="0" anchor="t">
            <a:spAutoFit/>
          </a:bodyPr>
          <a:lstStyle/>
          <a:p>
            <a:pPr algn="l">
              <a:lnSpc>
                <a:spcPct val="115000"/>
              </a:lnSpc>
            </a:pPr>
            <a:r>
              <a:rPr sz="1400" b="1">
                <a:solidFill>
                  <a:srgbClr val="3D4FD6"/>
                </a:solidFill>
                <a:latin typeface="Segoe UI"/>
              </a:rPr>
              <a:t>PROCHAINES ÉTAPES</a:t>
            </a:r>
          </a:p>
        </p:txBody>
      </p:sp>
      <p:sp>
        <p:nvSpPr>
          <p:cNvPr id="3" name="TextBox 2"/>
          <p:cNvSpPr txBox="1"/>
          <p:nvPr/>
        </p:nvSpPr>
        <p:spPr>
          <a:xfrm>
            <a:off x="812800" y="1168400"/>
            <a:ext cx="10566400" cy="1079500"/>
          </a:xfrm>
          <a:prstGeom prst="rect">
            <a:avLst/>
          </a:prstGeom>
          <a:noFill/>
        </p:spPr>
        <p:txBody>
          <a:bodyPr wrap="square" lIns="0" rIns="0" tIns="0" bIns="0" anchor="t">
            <a:spAutoFit/>
          </a:bodyPr>
          <a:lstStyle/>
          <a:p>
            <a:pPr algn="l">
              <a:lnSpc>
                <a:spcPct val="105000"/>
              </a:lnSpc>
            </a:pPr>
            <a:r>
              <a:rPr sz="3600" b="0">
                <a:solidFill>
                  <a:srgbClr val="1E2140"/>
                </a:solidFill>
                <a:latin typeface="Segoe UI Semibold"/>
              </a:rPr>
              <a:t>Du prototype aux familles et aux écoles</a:t>
            </a:r>
          </a:p>
        </p:txBody>
      </p:sp>
      <p:sp>
        <p:nvSpPr>
          <p:cNvPr id="4" name="Rounded Rectangle 3"/>
          <p:cNvSpPr/>
          <p:nvPr/>
        </p:nvSpPr>
        <p:spPr>
          <a:xfrm>
            <a:off x="812800" y="2413000"/>
            <a:ext cx="5194300" cy="1587500"/>
          </a:xfrm>
          <a:prstGeom prst="roundRect">
            <a:avLst>
              <a:gd name="adj" fmla="val 11200"/>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6000" y="2616200"/>
            <a:ext cx="4787900" cy="368300"/>
          </a:xfrm>
          <a:prstGeom prst="rect">
            <a:avLst/>
          </a:prstGeom>
          <a:noFill/>
        </p:spPr>
        <p:txBody>
          <a:bodyPr wrap="square" lIns="0" rIns="0" tIns="0" bIns="0" anchor="t">
            <a:spAutoFit/>
          </a:bodyPr>
          <a:lstStyle/>
          <a:p>
            <a:pPr algn="l">
              <a:lnSpc>
                <a:spcPct val="115000"/>
              </a:lnSpc>
            </a:pPr>
            <a:r>
              <a:rPr sz="2400" b="0">
                <a:solidFill>
                  <a:srgbClr val="1E2140"/>
                </a:solidFill>
                <a:latin typeface="Segoe UI Emoji"/>
              </a:rPr>
              <a:t>🎥</a:t>
            </a:r>
          </a:p>
        </p:txBody>
      </p:sp>
      <p:sp>
        <p:nvSpPr>
          <p:cNvPr id="6" name="TextBox 5"/>
          <p:cNvSpPr txBox="1"/>
          <p:nvPr/>
        </p:nvSpPr>
        <p:spPr>
          <a:xfrm>
            <a:off x="1016000" y="3073400"/>
            <a:ext cx="4787900" cy="297180"/>
          </a:xfrm>
          <a:prstGeom prst="rect">
            <a:avLst/>
          </a:prstGeom>
          <a:noFill/>
        </p:spPr>
        <p:txBody>
          <a:bodyPr wrap="square" lIns="0" rIns="0" tIns="0" bIns="0" anchor="t">
            <a:spAutoFit/>
          </a:bodyPr>
          <a:lstStyle/>
          <a:p>
            <a:pPr algn="l">
              <a:lnSpc>
                <a:spcPct val="115000"/>
              </a:lnSpc>
            </a:pPr>
            <a:r>
              <a:rPr sz="1800" b="0">
                <a:solidFill>
                  <a:srgbClr val="1E2140"/>
                </a:solidFill>
                <a:latin typeface="Segoe UI Semibold"/>
              </a:rPr>
              <a:t>Vraies vidéos</a:t>
            </a:r>
          </a:p>
        </p:txBody>
      </p:sp>
      <p:sp>
        <p:nvSpPr>
          <p:cNvPr id="7" name="TextBox 6"/>
          <p:cNvSpPr txBox="1"/>
          <p:nvPr/>
        </p:nvSpPr>
        <p:spPr>
          <a:xfrm>
            <a:off x="1016000" y="3459479"/>
            <a:ext cx="4787900" cy="426719"/>
          </a:xfrm>
          <a:prstGeom prst="rect">
            <a:avLst/>
          </a:prstGeom>
          <a:noFill/>
        </p:spPr>
        <p:txBody>
          <a:bodyPr wrap="square" lIns="0" rIns="0" tIns="0" bIns="0" anchor="t">
            <a:spAutoFit/>
          </a:bodyPr>
          <a:lstStyle/>
          <a:p>
            <a:pPr algn="l">
              <a:lnSpc>
                <a:spcPct val="120000"/>
              </a:lnSpc>
            </a:pPr>
            <a:r>
              <a:rPr sz="1400" b="0">
                <a:solidFill>
                  <a:srgbClr val="4A4868"/>
                </a:solidFill>
                <a:latin typeface="Segoe UI"/>
              </a:rPr>
              <a:t>Filmer des artisanes tisserandes pour chaque leçon.</a:t>
            </a:r>
          </a:p>
        </p:txBody>
      </p:sp>
      <p:sp>
        <p:nvSpPr>
          <p:cNvPr id="8" name="Rounded Rectangle 7"/>
          <p:cNvSpPr/>
          <p:nvPr/>
        </p:nvSpPr>
        <p:spPr>
          <a:xfrm>
            <a:off x="6184900" y="2413000"/>
            <a:ext cx="5194300" cy="1587500"/>
          </a:xfrm>
          <a:prstGeom prst="roundRect">
            <a:avLst>
              <a:gd name="adj" fmla="val 11200"/>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8100" y="2616200"/>
            <a:ext cx="4787900" cy="368300"/>
          </a:xfrm>
          <a:prstGeom prst="rect">
            <a:avLst/>
          </a:prstGeom>
          <a:noFill/>
        </p:spPr>
        <p:txBody>
          <a:bodyPr wrap="square" lIns="0" rIns="0" tIns="0" bIns="0" anchor="t">
            <a:spAutoFit/>
          </a:bodyPr>
          <a:lstStyle/>
          <a:p>
            <a:pPr algn="l">
              <a:lnSpc>
                <a:spcPct val="115000"/>
              </a:lnSpc>
            </a:pPr>
            <a:r>
              <a:rPr sz="2400" b="0">
                <a:solidFill>
                  <a:srgbClr val="1E2140"/>
                </a:solidFill>
                <a:latin typeface="Segoe UI Emoji"/>
              </a:rPr>
              <a:t>🌐</a:t>
            </a:r>
          </a:p>
        </p:txBody>
      </p:sp>
      <p:sp>
        <p:nvSpPr>
          <p:cNvPr id="10" name="TextBox 9"/>
          <p:cNvSpPr txBox="1"/>
          <p:nvPr/>
        </p:nvSpPr>
        <p:spPr>
          <a:xfrm>
            <a:off x="6388100" y="3073400"/>
            <a:ext cx="4787900" cy="297180"/>
          </a:xfrm>
          <a:prstGeom prst="rect">
            <a:avLst/>
          </a:prstGeom>
          <a:noFill/>
        </p:spPr>
        <p:txBody>
          <a:bodyPr wrap="square" lIns="0" rIns="0" tIns="0" bIns="0" anchor="t">
            <a:spAutoFit/>
          </a:bodyPr>
          <a:lstStyle/>
          <a:p>
            <a:pPr algn="l">
              <a:lnSpc>
                <a:spcPct val="115000"/>
              </a:lnSpc>
            </a:pPr>
            <a:r>
              <a:rPr sz="1800" b="0">
                <a:solidFill>
                  <a:srgbClr val="1E2140"/>
                </a:solidFill>
                <a:latin typeface="Segoe UI Semibold"/>
              </a:rPr>
              <a:t>Contenus traduits</a:t>
            </a:r>
          </a:p>
        </p:txBody>
      </p:sp>
      <p:sp>
        <p:nvSpPr>
          <p:cNvPr id="11" name="TextBox 10"/>
          <p:cNvSpPr txBox="1"/>
          <p:nvPr/>
        </p:nvSpPr>
        <p:spPr>
          <a:xfrm>
            <a:off x="6388100" y="3459479"/>
            <a:ext cx="4787900" cy="426719"/>
          </a:xfrm>
          <a:prstGeom prst="rect">
            <a:avLst/>
          </a:prstGeom>
          <a:noFill/>
        </p:spPr>
        <p:txBody>
          <a:bodyPr wrap="square" lIns="0" rIns="0" tIns="0" bIns="0" anchor="t">
            <a:spAutoFit/>
          </a:bodyPr>
          <a:lstStyle/>
          <a:p>
            <a:pPr algn="l">
              <a:lnSpc>
                <a:spcPct val="120000"/>
              </a:lnSpc>
            </a:pPr>
            <a:r>
              <a:rPr sz="1400" b="0">
                <a:solidFill>
                  <a:srgbClr val="4A4868"/>
                </a:solidFill>
                <a:latin typeface="Segoe UI"/>
              </a:rPr>
              <a:t>Leçons et jeux en français et en arabe, comme le compagnon.</a:t>
            </a:r>
          </a:p>
        </p:txBody>
      </p:sp>
      <p:sp>
        <p:nvSpPr>
          <p:cNvPr id="12" name="Rounded Rectangle 11"/>
          <p:cNvSpPr/>
          <p:nvPr/>
        </p:nvSpPr>
        <p:spPr>
          <a:xfrm>
            <a:off x="812800" y="4152900"/>
            <a:ext cx="5194300" cy="1587500"/>
          </a:xfrm>
          <a:prstGeom prst="roundRect">
            <a:avLst>
              <a:gd name="adj" fmla="val 11200"/>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6000" y="4356100"/>
            <a:ext cx="4787900" cy="368300"/>
          </a:xfrm>
          <a:prstGeom prst="rect">
            <a:avLst/>
          </a:prstGeom>
          <a:noFill/>
        </p:spPr>
        <p:txBody>
          <a:bodyPr wrap="square" lIns="0" rIns="0" tIns="0" bIns="0" anchor="t">
            <a:spAutoFit/>
          </a:bodyPr>
          <a:lstStyle/>
          <a:p>
            <a:pPr algn="l">
              <a:lnSpc>
                <a:spcPct val="115000"/>
              </a:lnSpc>
            </a:pPr>
            <a:r>
              <a:rPr sz="2400" b="0">
                <a:solidFill>
                  <a:srgbClr val="1E2140"/>
                </a:solidFill>
                <a:latin typeface="Segoe UI Emoji"/>
              </a:rPr>
              <a:t>🏫</a:t>
            </a:r>
          </a:p>
        </p:txBody>
      </p:sp>
      <p:sp>
        <p:nvSpPr>
          <p:cNvPr id="14" name="TextBox 13"/>
          <p:cNvSpPr txBox="1"/>
          <p:nvPr/>
        </p:nvSpPr>
        <p:spPr>
          <a:xfrm>
            <a:off x="1016000" y="4813300"/>
            <a:ext cx="4787900" cy="297180"/>
          </a:xfrm>
          <a:prstGeom prst="rect">
            <a:avLst/>
          </a:prstGeom>
          <a:noFill/>
        </p:spPr>
        <p:txBody>
          <a:bodyPr wrap="square" lIns="0" rIns="0" tIns="0" bIns="0" anchor="t">
            <a:spAutoFit/>
          </a:bodyPr>
          <a:lstStyle/>
          <a:p>
            <a:pPr algn="l">
              <a:lnSpc>
                <a:spcPct val="115000"/>
              </a:lnSpc>
            </a:pPr>
            <a:r>
              <a:rPr sz="1800" b="0">
                <a:solidFill>
                  <a:srgbClr val="1E2140"/>
                </a:solidFill>
                <a:latin typeface="Segoe UI Semibold"/>
              </a:rPr>
              <a:t>Pilotes</a:t>
            </a:r>
          </a:p>
        </p:txBody>
      </p:sp>
      <p:sp>
        <p:nvSpPr>
          <p:cNvPr id="15" name="TextBox 14"/>
          <p:cNvSpPr txBox="1"/>
          <p:nvPr/>
        </p:nvSpPr>
        <p:spPr>
          <a:xfrm>
            <a:off x="1016000" y="5199380"/>
            <a:ext cx="4787900" cy="426719"/>
          </a:xfrm>
          <a:prstGeom prst="rect">
            <a:avLst/>
          </a:prstGeom>
          <a:noFill/>
        </p:spPr>
        <p:txBody>
          <a:bodyPr wrap="square" lIns="0" rIns="0" tIns="0" bIns="0" anchor="t">
            <a:spAutoFit/>
          </a:bodyPr>
          <a:lstStyle/>
          <a:p>
            <a:pPr algn="l">
              <a:lnSpc>
                <a:spcPct val="120000"/>
              </a:lnSpc>
            </a:pPr>
            <a:r>
              <a:rPr sz="1400" b="0">
                <a:solidFill>
                  <a:srgbClr val="4A4868"/>
                </a:solidFill>
                <a:latin typeface="Segoe UI"/>
              </a:rPr>
              <a:t>Tester avec des écoles et des coopératives de tissage.</a:t>
            </a:r>
          </a:p>
        </p:txBody>
      </p:sp>
      <p:sp>
        <p:nvSpPr>
          <p:cNvPr id="16" name="Rounded Rectangle 15"/>
          <p:cNvSpPr/>
          <p:nvPr/>
        </p:nvSpPr>
        <p:spPr>
          <a:xfrm>
            <a:off x="6184900" y="4152900"/>
            <a:ext cx="5194300" cy="1587500"/>
          </a:xfrm>
          <a:prstGeom prst="roundRect">
            <a:avLst>
              <a:gd name="adj" fmla="val 11200"/>
            </a:avLst>
          </a:prstGeom>
          <a:solidFill>
            <a:srgbClr val="FFFFFF"/>
          </a:solidFill>
          <a:ln w="12700">
            <a:solidFill>
              <a:srgbClr val="E8DF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8100" y="4356100"/>
            <a:ext cx="4787900" cy="368300"/>
          </a:xfrm>
          <a:prstGeom prst="rect">
            <a:avLst/>
          </a:prstGeom>
          <a:noFill/>
        </p:spPr>
        <p:txBody>
          <a:bodyPr wrap="square" lIns="0" rIns="0" tIns="0" bIns="0" anchor="t">
            <a:spAutoFit/>
          </a:bodyPr>
          <a:lstStyle/>
          <a:p>
            <a:pPr algn="l">
              <a:lnSpc>
                <a:spcPct val="115000"/>
              </a:lnSpc>
            </a:pPr>
            <a:r>
              <a:rPr sz="2400" b="0">
                <a:solidFill>
                  <a:srgbClr val="1E2140"/>
                </a:solidFill>
                <a:latin typeface="Segoe UI Emoji"/>
              </a:rPr>
              <a:t>📱</a:t>
            </a:r>
          </a:p>
        </p:txBody>
      </p:sp>
      <p:sp>
        <p:nvSpPr>
          <p:cNvPr id="18" name="TextBox 17"/>
          <p:cNvSpPr txBox="1"/>
          <p:nvPr/>
        </p:nvSpPr>
        <p:spPr>
          <a:xfrm>
            <a:off x="6388100" y="4813300"/>
            <a:ext cx="4787900" cy="297180"/>
          </a:xfrm>
          <a:prstGeom prst="rect">
            <a:avLst/>
          </a:prstGeom>
          <a:noFill/>
        </p:spPr>
        <p:txBody>
          <a:bodyPr wrap="square" lIns="0" rIns="0" tIns="0" bIns="0" anchor="t">
            <a:spAutoFit/>
          </a:bodyPr>
          <a:lstStyle/>
          <a:p>
            <a:pPr algn="l">
              <a:lnSpc>
                <a:spcPct val="115000"/>
              </a:lnSpc>
            </a:pPr>
            <a:r>
              <a:rPr sz="1800" b="0">
                <a:solidFill>
                  <a:srgbClr val="1E2140"/>
                </a:solidFill>
                <a:latin typeface="Segoe UI Semibold"/>
              </a:rPr>
              <a:t>Mobile et production</a:t>
            </a:r>
          </a:p>
        </p:txBody>
      </p:sp>
      <p:sp>
        <p:nvSpPr>
          <p:cNvPr id="19" name="TextBox 18"/>
          <p:cNvSpPr txBox="1"/>
          <p:nvPr/>
        </p:nvSpPr>
        <p:spPr>
          <a:xfrm>
            <a:off x="6388100" y="5199380"/>
            <a:ext cx="4787900" cy="426719"/>
          </a:xfrm>
          <a:prstGeom prst="rect">
            <a:avLst/>
          </a:prstGeom>
          <a:noFill/>
        </p:spPr>
        <p:txBody>
          <a:bodyPr wrap="square" lIns="0" rIns="0" tIns="0" bIns="0" anchor="t">
            <a:spAutoFit/>
          </a:bodyPr>
          <a:lstStyle/>
          <a:p>
            <a:pPr algn="l">
              <a:lnSpc>
                <a:spcPct val="120000"/>
              </a:lnSpc>
            </a:pPr>
            <a:r>
              <a:rPr sz="1400" b="0">
                <a:solidFill>
                  <a:srgbClr val="4A4868"/>
                </a:solidFill>
                <a:latin typeface="Segoe UI"/>
              </a:rPr>
              <a:t>Application mobile, IA en offre payante sans quotas.</a:t>
            </a:r>
          </a:p>
        </p:txBody>
      </p:sp>
      <p:sp>
        <p:nvSpPr>
          <p:cNvPr id="20" name="TextBox 19"/>
          <p:cNvSpPr txBox="1"/>
          <p:nvPr/>
        </p:nvSpPr>
        <p:spPr>
          <a:xfrm>
            <a:off x="812800" y="6350000"/>
            <a:ext cx="7620000" cy="215900"/>
          </a:xfrm>
          <a:prstGeom prst="rect">
            <a:avLst/>
          </a:prstGeom>
          <a:noFill/>
        </p:spPr>
        <p:txBody>
          <a:bodyPr wrap="square" lIns="0" rIns="0" tIns="0" bIns="0" anchor="t">
            <a:spAutoFit/>
          </a:bodyPr>
          <a:lstStyle/>
          <a:p>
            <a:pPr algn="l">
              <a:lnSpc>
                <a:spcPct val="115000"/>
              </a:lnSpc>
            </a:pPr>
            <a:r>
              <a:rPr sz="1200" b="0">
                <a:solidFill>
                  <a:srgbClr val="8A8499"/>
                </a:solidFill>
                <a:latin typeface="Segoe UI"/>
              </a:rPr>
              <a:t>MyRugy Kids · Hackathon</a:t>
            </a:r>
          </a:p>
        </p:txBody>
      </p:sp>
      <p:sp>
        <p:nvSpPr>
          <p:cNvPr id="21" name="TextBox 20"/>
          <p:cNvSpPr txBox="1"/>
          <p:nvPr/>
        </p:nvSpPr>
        <p:spPr>
          <a:xfrm>
            <a:off x="10109200" y="6350000"/>
            <a:ext cx="1270000" cy="215900"/>
          </a:xfrm>
          <a:prstGeom prst="rect">
            <a:avLst/>
          </a:prstGeom>
          <a:noFill/>
        </p:spPr>
        <p:txBody>
          <a:bodyPr wrap="square" lIns="0" rIns="0" tIns="0" bIns="0" anchor="t">
            <a:spAutoFit/>
          </a:bodyPr>
          <a:lstStyle/>
          <a:p>
            <a:pPr algn="r">
              <a:lnSpc>
                <a:spcPct val="115000"/>
              </a:lnSpc>
            </a:pPr>
            <a:r>
              <a:rPr sz="1200" b="0">
                <a:solidFill>
                  <a:srgbClr val="8A8499"/>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5193A"/>
        </a:solidFill>
        <a:effectLst/>
      </p:bgPr>
    </p:bg>
    <p:spTree>
      <p:nvGrpSpPr>
        <p:cNvPr id="1" name=""/>
        <p:cNvGrpSpPr/>
        <p:nvPr/>
      </p:nvGrpSpPr>
      <p:grpSpPr/>
      <p:sp>
        <p:nvSpPr>
          <p:cNvPr id="2" name="TextBox 1"/>
          <p:cNvSpPr txBox="1"/>
          <p:nvPr/>
        </p:nvSpPr>
        <p:spPr>
          <a:xfrm>
            <a:off x="1016000" y="1270000"/>
            <a:ext cx="10160000" cy="952500"/>
          </a:xfrm>
          <a:prstGeom prst="rect">
            <a:avLst/>
          </a:prstGeom>
          <a:noFill/>
        </p:spPr>
        <p:txBody>
          <a:bodyPr wrap="square" lIns="0" rIns="0" tIns="0" bIns="0" anchor="t">
            <a:spAutoFit/>
          </a:bodyPr>
          <a:lstStyle/>
          <a:p>
            <a:pPr algn="ctr">
              <a:lnSpc>
                <a:spcPct val="115000"/>
              </a:lnSpc>
            </a:pPr>
            <a:r>
              <a:rPr sz="6000" b="0">
                <a:solidFill>
                  <a:srgbClr val="FBF6EE"/>
                </a:solidFill>
                <a:latin typeface="Segoe UI Emoji"/>
              </a:rPr>
              <a:t>🧶</a:t>
            </a:r>
          </a:p>
        </p:txBody>
      </p:sp>
      <p:sp>
        <p:nvSpPr>
          <p:cNvPr id="3" name="TextBox 2"/>
          <p:cNvSpPr txBox="1"/>
          <p:nvPr/>
        </p:nvSpPr>
        <p:spPr>
          <a:xfrm>
            <a:off x="1016000" y="2349500"/>
            <a:ext cx="10160000" cy="1079500"/>
          </a:xfrm>
          <a:prstGeom prst="rect">
            <a:avLst/>
          </a:prstGeom>
          <a:noFill/>
        </p:spPr>
        <p:txBody>
          <a:bodyPr wrap="square" lIns="0" rIns="0" tIns="0" bIns="0" anchor="t">
            <a:spAutoFit/>
          </a:bodyPr>
          <a:lstStyle/>
          <a:p>
            <a:pPr algn="ctr">
              <a:lnSpc>
                <a:spcPct val="115000"/>
              </a:lnSpc>
            </a:pPr>
            <a:r>
              <a:rPr sz="7000" b="0">
                <a:solidFill>
                  <a:srgbClr val="FBF6EE"/>
                </a:solidFill>
                <a:latin typeface="Segoe UI Semibold"/>
              </a:rPr>
              <a:t>Merci !</a:t>
            </a:r>
          </a:p>
        </p:txBody>
      </p:sp>
      <p:sp>
        <p:nvSpPr>
          <p:cNvPr id="4" name="TextBox 3"/>
          <p:cNvSpPr txBox="1"/>
          <p:nvPr/>
        </p:nvSpPr>
        <p:spPr>
          <a:xfrm>
            <a:off x="1651000" y="3683000"/>
            <a:ext cx="8890000" cy="825500"/>
          </a:xfrm>
          <a:prstGeom prst="rect">
            <a:avLst/>
          </a:prstGeom>
          <a:noFill/>
        </p:spPr>
        <p:txBody>
          <a:bodyPr wrap="square" lIns="0" rIns="0" tIns="0" bIns="0" anchor="t">
            <a:spAutoFit/>
          </a:bodyPr>
          <a:lstStyle/>
          <a:p>
            <a:pPr algn="ctr">
              <a:lnSpc>
                <a:spcPct val="120000"/>
              </a:lnSpc>
            </a:pPr>
            <a:r>
              <a:rPr sz="2200" b="0">
                <a:solidFill>
                  <a:srgbClr val="C9CCE8"/>
                </a:solidFill>
                <a:latin typeface="Segoe UI"/>
              </a:rPr>
              <a:t>MyRugy Kids : apprendre le tapis marocain, jouer et créer, avec une IA qui protège les enfants.</a:t>
            </a:r>
          </a:p>
        </p:txBody>
      </p:sp>
      <p:sp>
        <p:nvSpPr>
          <p:cNvPr id="5" name="Rounded Rectangle 4"/>
          <p:cNvSpPr/>
          <p:nvPr/>
        </p:nvSpPr>
        <p:spPr>
          <a:xfrm>
            <a:off x="3556000" y="4889500"/>
            <a:ext cx="5080000" cy="533400"/>
          </a:xfrm>
          <a:prstGeom prst="roundRect">
            <a:avLst>
              <a:gd name="adj" fmla="val 50000"/>
            </a:avLst>
          </a:prstGeom>
          <a:solidFill>
            <a:srgbClr val="F2A93B"/>
          </a:solidFill>
          <a:ln>
            <a:noFill/>
          </a:ln>
          <a:effectLst/>
        </p:spPr>
        <p:style>
          <a:lnRef idx="1">
            <a:schemeClr val="accent1"/>
          </a:lnRef>
          <a:fillRef idx="3">
            <a:schemeClr val="accent1"/>
          </a:fillRef>
          <a:effectRef idx="2">
            <a:schemeClr val="accent1"/>
          </a:effectRef>
          <a:fontRef idx="minor">
            <a:schemeClr val="lt1"/>
          </a:fontRef>
        </p:style>
        <p:txBody>
          <a:bodyPr rtlCol="0" anchor="ctr" lIns="76200" rIns="76200"/>
          <a:lstStyle/>
          <a:p>
            <a:pPr algn="ctr"/>
            <a:r>
              <a:rPr sz="1600" b="1">
                <a:solidFill>
                  <a:srgbClr val="15193A"/>
                </a:solidFill>
                <a:latin typeface="Segoe UI"/>
              </a:rPr>
              <a:t>[Nom de l'équipe] · [lien de la démo]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